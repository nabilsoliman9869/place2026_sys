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71" r:id="rId8"/>
    <p:sldId id="263" r:id="rId9"/>
    <p:sldId id="264" r:id="rId10"/>
    <p:sldId id="265" r:id="rId11"/>
    <p:sldId id="266" r:id="rId12"/>
    <p:sldId id="267" r:id="rId13"/>
    <p:sldId id="268" r:id="rId14"/>
    <p:sldId id="269" r:id="rId15"/>
    <p:sldId id="270" r:id="rId16"/>
    <p:sldId id="275" r:id="rId17"/>
    <p:sldId id="273" r:id="rId18"/>
    <p:sldId id="274"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35" autoAdjust="0"/>
    <p:restoredTop sz="94660"/>
  </p:normalViewPr>
  <p:slideViewPr>
    <p:cSldViewPr snapToGrid="0">
      <p:cViewPr varScale="1">
        <p:scale>
          <a:sx n="88" d="100"/>
          <a:sy n="88" d="100"/>
        </p:scale>
        <p:origin x="46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A807F-8E62-F8FF-2085-63F8BBDEC0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83B1CF-0386-34B3-FB8A-F7659ACBA4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9ECFE2-2ADD-0958-4ADE-368F19FA1962}"/>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5" name="Footer Placeholder 4">
            <a:extLst>
              <a:ext uri="{FF2B5EF4-FFF2-40B4-BE49-F238E27FC236}">
                <a16:creationId xmlns:a16="http://schemas.microsoft.com/office/drawing/2014/main" id="{45EA3A30-E9A1-7C19-C1B8-F9B62FC552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4B307-EE5D-F6F3-084D-2752D3B9041C}"/>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814879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628E-CA8A-F49D-0844-7403ED7075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9EFDA4-ED23-217C-D284-D576058395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115D33-F1CB-9711-CC82-30ABF121F3CA}"/>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5" name="Footer Placeholder 4">
            <a:extLst>
              <a:ext uri="{FF2B5EF4-FFF2-40B4-BE49-F238E27FC236}">
                <a16:creationId xmlns:a16="http://schemas.microsoft.com/office/drawing/2014/main" id="{B75BEA38-E4DA-19FD-9392-3E819385F7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FE521B-79C7-2FE0-72D3-8AB0DEF84AF8}"/>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1611702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79291-E8A8-41AA-A430-F001A6793A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8B02F8-4D55-C60E-7A24-1829B6304E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32103-358E-3C32-F2E0-D95B087B9A96}"/>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5" name="Footer Placeholder 4">
            <a:extLst>
              <a:ext uri="{FF2B5EF4-FFF2-40B4-BE49-F238E27FC236}">
                <a16:creationId xmlns:a16="http://schemas.microsoft.com/office/drawing/2014/main" id="{8DA7B5E3-322B-C503-2630-9CFEC32A40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A46A32-C87E-CCBE-10E2-FF4205BC6174}"/>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2281385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3929-9AC7-2AA0-D3FA-53CE2DC4EF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4082E1-903D-E6C8-4B6B-D2F4E476E4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4883F7-40FF-F7A4-DF61-DD70539741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358885-BBE4-628B-7E6C-E9517324E7FE}"/>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6" name="Footer Placeholder 5">
            <a:extLst>
              <a:ext uri="{FF2B5EF4-FFF2-40B4-BE49-F238E27FC236}">
                <a16:creationId xmlns:a16="http://schemas.microsoft.com/office/drawing/2014/main" id="{1B53F97C-51A6-41B6-B13D-E23444F935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0B63C1-EB12-EE3E-FCFB-8FB9676BF352}"/>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252204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61283-A246-508D-06B4-6E4EA4F7FA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A7A2B6-7C61-9D6C-B12D-4AC89B6DFD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446C3E-EB88-335C-CC55-54839E690A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4FB8C5-1F85-0D86-B166-E451AE60CD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9F0444-2C8F-81EB-7F6D-50C25DA214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4FA082-AC03-0FCB-EE33-32B9DB7FEECF}"/>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8" name="Footer Placeholder 7">
            <a:extLst>
              <a:ext uri="{FF2B5EF4-FFF2-40B4-BE49-F238E27FC236}">
                <a16:creationId xmlns:a16="http://schemas.microsoft.com/office/drawing/2014/main" id="{742AFDE3-6EBE-49C2-A50C-DD52FD60AE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E3D06F-0745-A202-75B8-7434BF5E3650}"/>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3115699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94C66-DCBD-7696-7C7A-FC7F80C663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469C53-5D23-AF4B-C487-B0AB126C8CB2}"/>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4" name="Footer Placeholder 3">
            <a:extLst>
              <a:ext uri="{FF2B5EF4-FFF2-40B4-BE49-F238E27FC236}">
                <a16:creationId xmlns:a16="http://schemas.microsoft.com/office/drawing/2014/main" id="{CD1C5D28-8221-B70C-9561-42E526DC83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68A3C9-9236-3376-0926-63350839C6D5}"/>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2249012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FC6A31-847B-3E13-DEE3-F5363B172CDF}"/>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3" name="Footer Placeholder 2">
            <a:extLst>
              <a:ext uri="{FF2B5EF4-FFF2-40B4-BE49-F238E27FC236}">
                <a16:creationId xmlns:a16="http://schemas.microsoft.com/office/drawing/2014/main" id="{EEF5CD07-0387-6DD6-8DE7-FDB12B07A6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AEB4FF-9447-AE58-0042-C88E34506C73}"/>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1431285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4571C-9F12-0A5C-77A0-54803B5631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38F1F8-7DC5-5688-F9EE-B7154FABAC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8F5B71-727E-82F0-D3D5-7BD020409D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C99108-17D0-D76E-21DE-0D248E7F465A}"/>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6" name="Footer Placeholder 5">
            <a:extLst>
              <a:ext uri="{FF2B5EF4-FFF2-40B4-BE49-F238E27FC236}">
                <a16:creationId xmlns:a16="http://schemas.microsoft.com/office/drawing/2014/main" id="{F50E52C2-C4BC-5B54-6499-49DD8E931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9BC08D-3BEF-86D0-C5C5-031CAB9FBF6F}"/>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1563327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AFF63-3A91-37F2-04DE-2659B50B7C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1DA9E9-6FE9-4EFA-C9D5-569781DA38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15AA3A-E6B8-3211-1272-A978419700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CB300-AEE0-E284-E8FF-9ABC6F363DA4}"/>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6" name="Footer Placeholder 5">
            <a:extLst>
              <a:ext uri="{FF2B5EF4-FFF2-40B4-BE49-F238E27FC236}">
                <a16:creationId xmlns:a16="http://schemas.microsoft.com/office/drawing/2014/main" id="{345F07AC-7364-30F9-16CD-1CEC09DC9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D4C99-D4AB-FC23-7CB8-0846D1872D33}"/>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647284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2DC0D-2BBA-EECD-80B8-F38E1D3DB9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115807-87CD-7E35-AA85-63E2D2BCC8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2101AA-0A2C-BF55-B2C9-411A0CC27A2D}"/>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5" name="Footer Placeholder 4">
            <a:extLst>
              <a:ext uri="{FF2B5EF4-FFF2-40B4-BE49-F238E27FC236}">
                <a16:creationId xmlns:a16="http://schemas.microsoft.com/office/drawing/2014/main" id="{DDBBB32B-6B68-3B9E-61BE-1454A233FF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7E78BF-EE87-EF1D-708E-E77893EA991B}"/>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3651996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83046-347B-96A2-4719-0D6BFD953C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81A630-D13F-D3D2-2EAF-77403A4052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6EB21-686E-7978-90F9-D8B387D705E0}"/>
              </a:ext>
            </a:extLst>
          </p:cNvPr>
          <p:cNvSpPr>
            <a:spLocks noGrp="1"/>
          </p:cNvSpPr>
          <p:nvPr>
            <p:ph type="dt" sz="half" idx="10"/>
          </p:nvPr>
        </p:nvSpPr>
        <p:spPr/>
        <p:txBody>
          <a:bodyPr/>
          <a:lstStyle/>
          <a:p>
            <a:fld id="{40360652-D3B7-464A-BCE1-0E34E00786BD}" type="datetimeFigureOut">
              <a:rPr lang="en-US" smtClean="0"/>
              <a:t>12/28/2025</a:t>
            </a:fld>
            <a:endParaRPr lang="en-US"/>
          </a:p>
        </p:txBody>
      </p:sp>
      <p:sp>
        <p:nvSpPr>
          <p:cNvPr id="5" name="Footer Placeholder 4">
            <a:extLst>
              <a:ext uri="{FF2B5EF4-FFF2-40B4-BE49-F238E27FC236}">
                <a16:creationId xmlns:a16="http://schemas.microsoft.com/office/drawing/2014/main" id="{34E41D6E-E1B4-06E9-EF4A-1373650AA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33C42E-4267-1A66-4308-C58802F412A2}"/>
              </a:ext>
            </a:extLst>
          </p:cNvPr>
          <p:cNvSpPr>
            <a:spLocks noGrp="1"/>
          </p:cNvSpPr>
          <p:nvPr>
            <p:ph type="sldNum" sz="quarter" idx="12"/>
          </p:nvPr>
        </p:nvSpPr>
        <p:spPr/>
        <p:txBody>
          <a:bodyPr/>
          <a:lstStyle/>
          <a:p>
            <a:fld id="{9AB762F8-4731-4A8C-AFD4-6F6EC878A550}" type="slidenum">
              <a:rPr lang="en-US" smtClean="0"/>
              <a:t>‹#›</a:t>
            </a:fld>
            <a:endParaRPr lang="en-US"/>
          </a:p>
        </p:txBody>
      </p:sp>
    </p:spTree>
    <p:extLst>
      <p:ext uri="{BB962C8B-B14F-4D97-AF65-F5344CB8AC3E}">
        <p14:creationId xmlns:p14="http://schemas.microsoft.com/office/powerpoint/2010/main" val="3290572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066DCF-98B1-6605-6B64-2D3775B9E2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215DBC-651E-5762-4E37-B52DE2AF17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46B6C4-4758-3F54-99F8-B51A95B655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360652-D3B7-464A-BCE1-0E34E00786BD}" type="datetimeFigureOut">
              <a:rPr lang="en-US" smtClean="0"/>
              <a:t>12/28/2025</a:t>
            </a:fld>
            <a:endParaRPr lang="en-US"/>
          </a:p>
        </p:txBody>
      </p:sp>
      <p:sp>
        <p:nvSpPr>
          <p:cNvPr id="5" name="Footer Placeholder 4">
            <a:extLst>
              <a:ext uri="{FF2B5EF4-FFF2-40B4-BE49-F238E27FC236}">
                <a16:creationId xmlns:a16="http://schemas.microsoft.com/office/drawing/2014/main" id="{E438E143-094C-EDC0-9DDB-777EF34366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209A83F-D3D8-30DD-96A3-7BE46B427A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B762F8-4731-4A8C-AFD4-6F6EC878A550}" type="slidenum">
              <a:rPr lang="en-US" smtClean="0"/>
              <a:t>‹#›</a:t>
            </a:fld>
            <a:endParaRPr lang="en-US"/>
          </a:p>
        </p:txBody>
      </p:sp>
    </p:spTree>
    <p:extLst>
      <p:ext uri="{BB962C8B-B14F-4D97-AF65-F5344CB8AC3E}">
        <p14:creationId xmlns:p14="http://schemas.microsoft.com/office/powerpoint/2010/main" val="4149646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2B7A8-B3C4-04FA-EA72-E0C3E5683B87}"/>
              </a:ext>
            </a:extLst>
          </p:cNvPr>
          <p:cNvSpPr>
            <a:spLocks noGrp="1"/>
          </p:cNvSpPr>
          <p:nvPr>
            <p:ph type="ctrTitle"/>
          </p:nvPr>
        </p:nvSpPr>
        <p:spPr/>
        <p:txBody>
          <a:bodyPr/>
          <a:lstStyle/>
          <a:p>
            <a:r>
              <a:rPr lang="en-US" dirty="0"/>
              <a:t>Work flow and customer’s journey presentation</a:t>
            </a:r>
          </a:p>
        </p:txBody>
      </p:sp>
    </p:spTree>
    <p:extLst>
      <p:ext uri="{BB962C8B-B14F-4D97-AF65-F5344CB8AC3E}">
        <p14:creationId xmlns:p14="http://schemas.microsoft.com/office/powerpoint/2010/main" val="3725327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6E70A8-21FE-DDD9-662D-52E3A0852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1842044" cy="6941316"/>
          </a:xfrm>
          <a:prstGeom prst="rect">
            <a:avLst/>
          </a:prstGeom>
        </p:spPr>
      </p:pic>
    </p:spTree>
    <p:extLst>
      <p:ext uri="{BB962C8B-B14F-4D97-AF65-F5344CB8AC3E}">
        <p14:creationId xmlns:p14="http://schemas.microsoft.com/office/powerpoint/2010/main" val="732306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8FDE7-6EA9-5A32-9753-B21FA1079360}"/>
              </a:ext>
            </a:extLst>
          </p:cNvPr>
          <p:cNvSpPr>
            <a:spLocks noGrp="1"/>
          </p:cNvSpPr>
          <p:nvPr>
            <p:ph type="title"/>
          </p:nvPr>
        </p:nvSpPr>
        <p:spPr>
          <a:xfrm>
            <a:off x="0" y="0"/>
            <a:ext cx="10515600" cy="1325563"/>
          </a:xfrm>
        </p:spPr>
        <p:txBody>
          <a:bodyPr/>
          <a:lstStyle/>
          <a:p>
            <a:r>
              <a:rPr lang="en-US" dirty="0">
                <a:solidFill>
                  <a:schemeClr val="accent1"/>
                </a:solidFill>
              </a:rPr>
              <a:t>Stage (1) Recruiters :</a:t>
            </a:r>
          </a:p>
        </p:txBody>
      </p:sp>
      <p:sp>
        <p:nvSpPr>
          <p:cNvPr id="3" name="Content Placeholder 2">
            <a:extLst>
              <a:ext uri="{FF2B5EF4-FFF2-40B4-BE49-F238E27FC236}">
                <a16:creationId xmlns:a16="http://schemas.microsoft.com/office/drawing/2014/main" id="{136BD134-8D01-9E23-AC75-7A8DFAE41088}"/>
              </a:ext>
            </a:extLst>
          </p:cNvPr>
          <p:cNvSpPr>
            <a:spLocks noGrp="1"/>
          </p:cNvSpPr>
          <p:nvPr>
            <p:ph idx="1"/>
          </p:nvPr>
        </p:nvSpPr>
        <p:spPr>
          <a:xfrm>
            <a:off x="81844" y="1140178"/>
            <a:ext cx="10515600" cy="4382030"/>
          </a:xfrm>
        </p:spPr>
        <p:txBody>
          <a:bodyPr/>
          <a:lstStyle/>
          <a:p>
            <a:r>
              <a:rPr lang="en-US" dirty="0"/>
              <a:t> At this stage, recruiters or the sales team conduct calls to introduce our programs and book candidates for the placement test.</a:t>
            </a:r>
            <a:br>
              <a:rPr lang="en-US" dirty="0"/>
            </a:br>
            <a:r>
              <a:rPr lang="en-US" dirty="0"/>
              <a:t>During the call, recruiters are required to collect essential information from the candidate. A dedicated sheet will be attached outlining the required data, along with the sheet or form currently used for this step.</a:t>
            </a:r>
          </a:p>
          <a:p>
            <a:r>
              <a:rPr lang="en-US" b="1" dirty="0"/>
              <a:t>N.B:</a:t>
            </a:r>
            <a:r>
              <a:rPr lang="en-US" dirty="0"/>
              <a:t> </a:t>
            </a:r>
            <a:r>
              <a:rPr lang="en-US" dirty="0" smtClean="0"/>
              <a:t> </a:t>
            </a:r>
            <a:r>
              <a:rPr lang="en-US" dirty="0"/>
              <a:t>W</a:t>
            </a:r>
            <a:r>
              <a:rPr lang="en-US" dirty="0" smtClean="0"/>
              <a:t>hat </a:t>
            </a:r>
            <a:r>
              <a:rPr lang="en-US" dirty="0"/>
              <a:t>we need to add to the system is that recruiters will not be able to proceed to the next step of booking the placement test unless all required information has been fully completed.**</a:t>
            </a:r>
          </a:p>
          <a:p>
            <a:endParaRPr lang="en-US" dirty="0"/>
          </a:p>
          <a:p>
            <a:pPr marL="0" indent="0">
              <a:buNone/>
            </a:pPr>
            <a:endParaRPr lang="en-US" dirty="0"/>
          </a:p>
        </p:txBody>
      </p:sp>
      <p:pic>
        <p:nvPicPr>
          <p:cNvPr id="7" name="Picture 6">
            <a:extLst>
              <a:ext uri="{FF2B5EF4-FFF2-40B4-BE49-F238E27FC236}">
                <a16:creationId xmlns:a16="http://schemas.microsoft.com/office/drawing/2014/main" id="{A6FB9C71-F827-A377-02B7-FFB8E02F38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221" y="5257368"/>
            <a:ext cx="10336067" cy="1124107"/>
          </a:xfrm>
          <a:prstGeom prst="rect">
            <a:avLst/>
          </a:prstGeom>
        </p:spPr>
      </p:pic>
    </p:spTree>
    <p:extLst>
      <p:ext uri="{BB962C8B-B14F-4D97-AF65-F5344CB8AC3E}">
        <p14:creationId xmlns:p14="http://schemas.microsoft.com/office/powerpoint/2010/main" val="4237305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84E87-8F54-A811-BAFB-2127E07BB8A3}"/>
              </a:ext>
            </a:extLst>
          </p:cNvPr>
          <p:cNvSpPr>
            <a:spLocks noGrp="1"/>
          </p:cNvSpPr>
          <p:nvPr>
            <p:ph type="title"/>
          </p:nvPr>
        </p:nvSpPr>
        <p:spPr>
          <a:xfrm>
            <a:off x="0" y="-165453"/>
            <a:ext cx="10515600" cy="1325563"/>
          </a:xfrm>
        </p:spPr>
        <p:txBody>
          <a:bodyPr/>
          <a:lstStyle/>
          <a:p>
            <a:r>
              <a:rPr lang="en-US" dirty="0">
                <a:solidFill>
                  <a:schemeClr val="accent1"/>
                </a:solidFill>
              </a:rPr>
              <a:t>Stage (2) booking a placement test :</a:t>
            </a:r>
            <a:endParaRPr lang="en-US" dirty="0"/>
          </a:p>
        </p:txBody>
      </p:sp>
      <p:sp>
        <p:nvSpPr>
          <p:cNvPr id="3" name="Content Placeholder 2">
            <a:extLst>
              <a:ext uri="{FF2B5EF4-FFF2-40B4-BE49-F238E27FC236}">
                <a16:creationId xmlns:a16="http://schemas.microsoft.com/office/drawing/2014/main" id="{E370B855-22F4-6753-5FC5-4D0C68452748}"/>
              </a:ext>
            </a:extLst>
          </p:cNvPr>
          <p:cNvSpPr>
            <a:spLocks noGrp="1"/>
          </p:cNvSpPr>
          <p:nvPr>
            <p:ph idx="1"/>
          </p:nvPr>
        </p:nvSpPr>
        <p:spPr>
          <a:xfrm>
            <a:off x="0" y="978959"/>
            <a:ext cx="10515600" cy="4351338"/>
          </a:xfrm>
        </p:spPr>
        <p:txBody>
          <a:bodyPr/>
          <a:lstStyle/>
          <a:p>
            <a:r>
              <a:rPr lang="en-US" dirty="0"/>
              <a:t>Once recruiters are on the call with the candidate, after gathering all required information and explaining all relevant details, the next step is to book a placement test for the candidate. At this stage, there are two available options: an online test or an onsite test.</a:t>
            </a:r>
          </a:p>
          <a:p>
            <a:r>
              <a:rPr lang="en-US" dirty="0"/>
              <a:t> On the system we need to add a booking page for placements.</a:t>
            </a:r>
          </a:p>
          <a:p>
            <a:r>
              <a:rPr lang="en-US" dirty="0"/>
              <a:t>Sheets that we currently use for gathering candidates’ information and booking them will be attached for further review.</a:t>
            </a:r>
          </a:p>
          <a:p>
            <a:endParaRPr lang="en-US" dirty="0"/>
          </a:p>
        </p:txBody>
      </p:sp>
      <p:pic>
        <p:nvPicPr>
          <p:cNvPr id="7" name="Picture 6">
            <a:extLst>
              <a:ext uri="{FF2B5EF4-FFF2-40B4-BE49-F238E27FC236}">
                <a16:creationId xmlns:a16="http://schemas.microsoft.com/office/drawing/2014/main" id="{70C5CAD0-A948-85A3-DFF0-0F5A361CC1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97" y="4957154"/>
            <a:ext cx="10269383" cy="1143160"/>
          </a:xfrm>
          <a:prstGeom prst="rect">
            <a:avLst/>
          </a:prstGeom>
        </p:spPr>
      </p:pic>
    </p:spTree>
    <p:extLst>
      <p:ext uri="{BB962C8B-B14F-4D97-AF65-F5344CB8AC3E}">
        <p14:creationId xmlns:p14="http://schemas.microsoft.com/office/powerpoint/2010/main" val="2468874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CD77E-909F-8390-4C65-ABC2C8DF5F3B}"/>
              </a:ext>
            </a:extLst>
          </p:cNvPr>
          <p:cNvSpPr>
            <a:spLocks noGrp="1"/>
          </p:cNvSpPr>
          <p:nvPr>
            <p:ph type="title"/>
          </p:nvPr>
        </p:nvSpPr>
        <p:spPr>
          <a:xfrm>
            <a:off x="25400" y="18255"/>
            <a:ext cx="10515600" cy="1325563"/>
          </a:xfrm>
        </p:spPr>
        <p:txBody>
          <a:bodyPr/>
          <a:lstStyle/>
          <a:p>
            <a:r>
              <a:rPr lang="en-US" dirty="0">
                <a:solidFill>
                  <a:schemeClr val="accent1"/>
                </a:solidFill>
              </a:rPr>
              <a:t>Stage (3) Payment:</a:t>
            </a:r>
            <a:endParaRPr lang="en-US" dirty="0"/>
          </a:p>
        </p:txBody>
      </p:sp>
      <p:sp>
        <p:nvSpPr>
          <p:cNvPr id="3" name="Content Placeholder 2">
            <a:extLst>
              <a:ext uri="{FF2B5EF4-FFF2-40B4-BE49-F238E27FC236}">
                <a16:creationId xmlns:a16="http://schemas.microsoft.com/office/drawing/2014/main" id="{2799347D-AB46-8F48-B2F0-A83361CD8EA9}"/>
              </a:ext>
            </a:extLst>
          </p:cNvPr>
          <p:cNvSpPr>
            <a:spLocks noGrp="1"/>
          </p:cNvSpPr>
          <p:nvPr>
            <p:ph idx="1"/>
          </p:nvPr>
        </p:nvSpPr>
        <p:spPr>
          <a:xfrm>
            <a:off x="25400" y="1050307"/>
            <a:ext cx="10515600" cy="4351338"/>
          </a:xfrm>
        </p:spPr>
        <p:txBody>
          <a:bodyPr>
            <a:normAutofit fontScale="92500"/>
          </a:bodyPr>
          <a:lstStyle/>
          <a:p>
            <a:r>
              <a:rPr lang="en-US" dirty="0"/>
              <a:t>At this stage, after agreeing on the placement test date, time, and venue (online or onsite), the candidate has two payment options: online payment (transfer) or onsite payment at the time of the placement test.</a:t>
            </a:r>
          </a:p>
          <a:p>
            <a:r>
              <a:rPr lang="en-US" b="1" dirty="0"/>
              <a:t>N.B:</a:t>
            </a:r>
            <a:r>
              <a:rPr lang="en-US" dirty="0"/>
              <a:t> At this stage, a mandatory checkbox must be added to the system to indicate the status of Payment along with the reason for pending cases and whether the trainee paid onsite or </a:t>
            </a:r>
            <a:r>
              <a:rPr lang="en-US" dirty="0" smtClean="0"/>
              <a:t>online.</a:t>
            </a:r>
            <a:endParaRPr lang="en-US" dirty="0"/>
          </a:p>
          <a:p>
            <a:pPr>
              <a:buFont typeface="Arial" panose="020B0604020202020204" pitchFamily="34" charset="0"/>
              <a:buChar char="•"/>
            </a:pPr>
            <a:r>
              <a:rPr lang="en-US" dirty="0"/>
              <a:t>Payment – </a:t>
            </a:r>
            <a:r>
              <a:rPr lang="en-US" b="1" dirty="0"/>
              <a:t>Done</a:t>
            </a:r>
            <a:endParaRPr lang="en-US" dirty="0"/>
          </a:p>
          <a:p>
            <a:pPr>
              <a:buFont typeface="Arial" panose="020B0604020202020204" pitchFamily="34" charset="0"/>
              <a:buChar char="•"/>
            </a:pPr>
            <a:r>
              <a:rPr lang="en-US" dirty="0"/>
              <a:t>Payment – </a:t>
            </a:r>
            <a:r>
              <a:rPr lang="en-US" b="1" dirty="0"/>
              <a:t>Pending</a:t>
            </a:r>
            <a:endParaRPr lang="en-US" dirty="0"/>
          </a:p>
          <a:p>
            <a:r>
              <a:rPr lang="en-US" dirty="0"/>
              <a:t>This step must be completed before proceeding to the next stage no one can proceed to next step unless this step is completed ** </a:t>
            </a:r>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26729CCA-A1E0-C9DF-1FEA-ED3A5BC600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929" y="5514182"/>
            <a:ext cx="9964541" cy="1076475"/>
          </a:xfrm>
          <a:prstGeom prst="rect">
            <a:avLst/>
          </a:prstGeom>
        </p:spPr>
      </p:pic>
      <p:sp>
        <p:nvSpPr>
          <p:cNvPr id="6" name="Rectangle 5">
            <a:extLst>
              <a:ext uri="{FF2B5EF4-FFF2-40B4-BE49-F238E27FC236}">
                <a16:creationId xmlns:a16="http://schemas.microsoft.com/office/drawing/2014/main" id="{5373DDB8-69D9-A46B-52BF-A0CCA7B4AF1F}"/>
              </a:ext>
            </a:extLst>
          </p:cNvPr>
          <p:cNvSpPr/>
          <p:nvPr/>
        </p:nvSpPr>
        <p:spPr>
          <a:xfrm>
            <a:off x="2714978" y="3539241"/>
            <a:ext cx="259645" cy="2370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AF48DE2-9D1F-FDBB-30D8-E27AC5330013}"/>
              </a:ext>
            </a:extLst>
          </p:cNvPr>
          <p:cNvSpPr/>
          <p:nvPr/>
        </p:nvSpPr>
        <p:spPr>
          <a:xfrm>
            <a:off x="3104444" y="4045770"/>
            <a:ext cx="214488" cy="22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5873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3B58-0F4F-54CE-6530-B7138AE83A61}"/>
              </a:ext>
            </a:extLst>
          </p:cNvPr>
          <p:cNvSpPr>
            <a:spLocks noGrp="1"/>
          </p:cNvSpPr>
          <p:nvPr>
            <p:ph type="title"/>
          </p:nvPr>
        </p:nvSpPr>
        <p:spPr>
          <a:xfrm>
            <a:off x="0" y="0"/>
            <a:ext cx="10515600" cy="1325563"/>
          </a:xfrm>
        </p:spPr>
        <p:txBody>
          <a:bodyPr/>
          <a:lstStyle/>
          <a:p>
            <a:r>
              <a:rPr lang="en-US" dirty="0">
                <a:solidFill>
                  <a:schemeClr val="accent1"/>
                </a:solidFill>
              </a:rPr>
              <a:t>Stage (4) The placement test :</a:t>
            </a:r>
            <a:endParaRPr lang="en-US" dirty="0"/>
          </a:p>
        </p:txBody>
      </p:sp>
      <p:sp>
        <p:nvSpPr>
          <p:cNvPr id="3" name="Content Placeholder 2">
            <a:extLst>
              <a:ext uri="{FF2B5EF4-FFF2-40B4-BE49-F238E27FC236}">
                <a16:creationId xmlns:a16="http://schemas.microsoft.com/office/drawing/2014/main" id="{C67B9CE4-AC73-77DD-7ADE-58257F38DEEF}"/>
              </a:ext>
            </a:extLst>
          </p:cNvPr>
          <p:cNvSpPr>
            <a:spLocks noGrp="1"/>
          </p:cNvSpPr>
          <p:nvPr>
            <p:ph idx="1"/>
          </p:nvPr>
        </p:nvSpPr>
        <p:spPr>
          <a:xfrm>
            <a:off x="0" y="1253331"/>
            <a:ext cx="10515600" cy="4351338"/>
          </a:xfrm>
        </p:spPr>
        <p:txBody>
          <a:bodyPr>
            <a:normAutofit fontScale="85000" lnSpcReduction="20000"/>
          </a:bodyPr>
          <a:lstStyle/>
          <a:p>
            <a:r>
              <a:rPr lang="en-US" dirty="0"/>
              <a:t>Once the placement test date and time arrives (online or onsite), the Talent Acquisition team is responsible for conducting the test and providing language feedback to the candidate.</a:t>
            </a:r>
          </a:p>
          <a:p>
            <a:r>
              <a:rPr lang="en-US" b="1" dirty="0"/>
              <a:t>N.B:</a:t>
            </a:r>
            <a:r>
              <a:rPr lang="en-US" dirty="0"/>
              <a:t> At this stage, a mandatory checkbox must be added to the system to indicate the status of language feedback</a:t>
            </a:r>
            <a:r>
              <a:rPr lang="en-US" dirty="0" smtClean="0"/>
              <a:t>: In case of </a:t>
            </a:r>
            <a:r>
              <a:rPr lang="en-US" b="1" dirty="0" smtClean="0"/>
              <a:t>Pending</a:t>
            </a:r>
            <a:r>
              <a:rPr lang="en-US" dirty="0" smtClean="0"/>
              <a:t>, a reason must be mentioned (drop-down menu)</a:t>
            </a:r>
            <a:endParaRPr lang="en-US" dirty="0"/>
          </a:p>
          <a:p>
            <a:pPr>
              <a:buFont typeface="Arial" panose="020B0604020202020204" pitchFamily="34" charset="0"/>
              <a:buChar char="•"/>
            </a:pPr>
            <a:r>
              <a:rPr lang="en-US" dirty="0"/>
              <a:t>Language feedback conducted – </a:t>
            </a:r>
            <a:r>
              <a:rPr lang="en-US" b="1" dirty="0"/>
              <a:t>Done</a:t>
            </a:r>
            <a:endParaRPr lang="en-US" dirty="0"/>
          </a:p>
          <a:p>
            <a:pPr>
              <a:buFont typeface="Arial" panose="020B0604020202020204" pitchFamily="34" charset="0"/>
              <a:buChar char="•"/>
            </a:pPr>
            <a:r>
              <a:rPr lang="en-US" dirty="0"/>
              <a:t>Language feedback conducted – </a:t>
            </a:r>
            <a:r>
              <a:rPr lang="en-US" b="1" dirty="0" smtClean="0"/>
              <a:t>Pending</a:t>
            </a:r>
          </a:p>
          <a:p>
            <a:pPr>
              <a:buFont typeface="Arial" panose="020B0604020202020204" pitchFamily="34" charset="0"/>
              <a:buChar char="•"/>
            </a:pPr>
            <a:r>
              <a:rPr lang="en-US" b="1" dirty="0" smtClean="0"/>
              <a:t>Reason “drop-down menu” includes 2 options:  1) Validation and 2) Call no answer</a:t>
            </a:r>
            <a:endParaRPr lang="en-US" dirty="0"/>
          </a:p>
          <a:p>
            <a:r>
              <a:rPr lang="en-US" dirty="0"/>
              <a:t>This step must be completed before proceeding to the next stage no one can proceed to next step unless this step is completed ** </a:t>
            </a:r>
          </a:p>
          <a:p>
            <a:r>
              <a:rPr lang="en-US" dirty="0"/>
              <a:t> Also the sheet of language feedback that we are currently using will be shared.</a:t>
            </a:r>
          </a:p>
          <a:p>
            <a:endParaRPr lang="en-US" dirty="0"/>
          </a:p>
        </p:txBody>
      </p:sp>
      <p:sp>
        <p:nvSpPr>
          <p:cNvPr id="5" name="Rectangle 4">
            <a:extLst>
              <a:ext uri="{FF2B5EF4-FFF2-40B4-BE49-F238E27FC236}">
                <a16:creationId xmlns:a16="http://schemas.microsoft.com/office/drawing/2014/main" id="{724C69D2-8F5D-9720-0ECC-43DCA6DDDFCB}"/>
              </a:ext>
            </a:extLst>
          </p:cNvPr>
          <p:cNvSpPr/>
          <p:nvPr/>
        </p:nvSpPr>
        <p:spPr>
          <a:xfrm>
            <a:off x="5122333" y="3090406"/>
            <a:ext cx="135467" cy="1806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6089AFD-2DA1-4C07-5736-FFA36F7A920D}"/>
              </a:ext>
            </a:extLst>
          </p:cNvPr>
          <p:cNvSpPr/>
          <p:nvPr/>
        </p:nvSpPr>
        <p:spPr>
          <a:xfrm>
            <a:off x="5435438" y="3492140"/>
            <a:ext cx="135467" cy="1806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E7262A8B-DA2C-158D-E90A-8DE63D8C9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451" y="5876788"/>
            <a:ext cx="9478698" cy="981212"/>
          </a:xfrm>
          <a:prstGeom prst="rect">
            <a:avLst/>
          </a:prstGeom>
        </p:spPr>
      </p:pic>
    </p:spTree>
    <p:extLst>
      <p:ext uri="{BB962C8B-B14F-4D97-AF65-F5344CB8AC3E}">
        <p14:creationId xmlns:p14="http://schemas.microsoft.com/office/powerpoint/2010/main" val="3125328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615528-4796-CC67-49E6-35B37C0198DE}"/>
              </a:ext>
            </a:extLst>
          </p:cNvPr>
          <p:cNvSpPr>
            <a:spLocks noGrp="1"/>
          </p:cNvSpPr>
          <p:nvPr>
            <p:ph idx="1"/>
          </p:nvPr>
        </p:nvSpPr>
        <p:spPr>
          <a:xfrm>
            <a:off x="0" y="0"/>
            <a:ext cx="10515600" cy="4351338"/>
          </a:xfrm>
        </p:spPr>
        <p:txBody>
          <a:bodyPr>
            <a:normAutofit lnSpcReduction="10000"/>
          </a:bodyPr>
          <a:lstStyle/>
          <a:p>
            <a:r>
              <a:rPr lang="en-US" dirty="0"/>
              <a:t>At this stage, a mandatory checkbox must be added to the system to indicate the status of Arrival (online/onsite ):</a:t>
            </a:r>
          </a:p>
          <a:p>
            <a:pPr>
              <a:buFont typeface="Arial" panose="020B0604020202020204" pitchFamily="34" charset="0"/>
              <a:buChar char="•"/>
            </a:pPr>
            <a:r>
              <a:rPr lang="en-US" dirty="0"/>
              <a:t> </a:t>
            </a:r>
            <a:r>
              <a:rPr lang="en-US" b="1" dirty="0"/>
              <a:t>showed</a:t>
            </a:r>
            <a:endParaRPr lang="en-US" dirty="0"/>
          </a:p>
          <a:p>
            <a:pPr>
              <a:buFont typeface="Arial" panose="020B0604020202020204" pitchFamily="34" charset="0"/>
              <a:buChar char="•"/>
            </a:pPr>
            <a:r>
              <a:rPr lang="en-US" b="1" dirty="0" smtClean="0"/>
              <a:t>No </a:t>
            </a:r>
            <a:r>
              <a:rPr lang="en-US" b="1" dirty="0"/>
              <a:t>show</a:t>
            </a:r>
            <a:endParaRPr lang="en-US" dirty="0"/>
          </a:p>
          <a:p>
            <a:r>
              <a:rPr lang="en-US" dirty="0"/>
              <a:t>And if we can add as </a:t>
            </a:r>
            <a:r>
              <a:rPr lang="en-US" dirty="0" smtClean="0"/>
              <a:t>well </a:t>
            </a:r>
            <a:r>
              <a:rPr lang="en-US" dirty="0"/>
              <a:t>the exact time of showing up (online/onsite) for the placement. </a:t>
            </a:r>
          </a:p>
          <a:p>
            <a:r>
              <a:rPr lang="en-US" dirty="0"/>
              <a:t>After showing up for the placement test there will be further information required to complete before taking the placement test a sample of the further required information will be attached for further review.</a:t>
            </a:r>
          </a:p>
          <a:p>
            <a:endParaRPr lang="en-US" dirty="0"/>
          </a:p>
        </p:txBody>
      </p:sp>
      <p:sp>
        <p:nvSpPr>
          <p:cNvPr id="4" name="Rectangle 3">
            <a:extLst>
              <a:ext uri="{FF2B5EF4-FFF2-40B4-BE49-F238E27FC236}">
                <a16:creationId xmlns:a16="http://schemas.microsoft.com/office/drawing/2014/main" id="{9FDEA7EB-AD16-658A-6C81-7E2FA763D1A7}"/>
              </a:ext>
            </a:extLst>
          </p:cNvPr>
          <p:cNvSpPr/>
          <p:nvPr/>
        </p:nvSpPr>
        <p:spPr>
          <a:xfrm>
            <a:off x="1676400" y="903111"/>
            <a:ext cx="248356" cy="2144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A268E75-BB65-4865-B080-39603C2BA6A4}"/>
              </a:ext>
            </a:extLst>
          </p:cNvPr>
          <p:cNvSpPr/>
          <p:nvPr/>
        </p:nvSpPr>
        <p:spPr>
          <a:xfrm>
            <a:off x="2009422" y="1360310"/>
            <a:ext cx="248356" cy="2144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03334C8-A70A-C065-1D9B-075560D83F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609" y="4110604"/>
            <a:ext cx="9726382" cy="1086002"/>
          </a:xfrm>
          <a:prstGeom prst="rect">
            <a:avLst/>
          </a:prstGeom>
        </p:spPr>
      </p:pic>
    </p:spTree>
    <p:extLst>
      <p:ext uri="{BB962C8B-B14F-4D97-AF65-F5344CB8AC3E}">
        <p14:creationId xmlns:p14="http://schemas.microsoft.com/office/powerpoint/2010/main" val="3561388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5D6F1-05EE-F0F9-A171-64F21FE6D9AC}"/>
              </a:ext>
            </a:extLst>
          </p:cNvPr>
          <p:cNvSpPr>
            <a:spLocks noGrp="1"/>
          </p:cNvSpPr>
          <p:nvPr>
            <p:ph type="title"/>
          </p:nvPr>
        </p:nvSpPr>
        <p:spPr>
          <a:xfrm>
            <a:off x="0" y="0"/>
            <a:ext cx="10515600" cy="1325563"/>
          </a:xfrm>
        </p:spPr>
        <p:txBody>
          <a:bodyPr/>
          <a:lstStyle/>
          <a:p>
            <a:r>
              <a:rPr lang="en-US" dirty="0">
                <a:solidFill>
                  <a:schemeClr val="accent1"/>
                </a:solidFill>
              </a:rPr>
              <a:t>Stage (5) Level allocation:</a:t>
            </a:r>
            <a:endParaRPr lang="en-US" dirty="0"/>
          </a:p>
        </p:txBody>
      </p:sp>
      <p:sp>
        <p:nvSpPr>
          <p:cNvPr id="3" name="Content Placeholder 2">
            <a:extLst>
              <a:ext uri="{FF2B5EF4-FFF2-40B4-BE49-F238E27FC236}">
                <a16:creationId xmlns:a16="http://schemas.microsoft.com/office/drawing/2014/main" id="{E11F9BBA-637F-4479-86F4-C2FE585B3ACB}"/>
              </a:ext>
            </a:extLst>
          </p:cNvPr>
          <p:cNvSpPr>
            <a:spLocks noGrp="1"/>
          </p:cNvSpPr>
          <p:nvPr>
            <p:ph idx="1"/>
          </p:nvPr>
        </p:nvSpPr>
        <p:spPr>
          <a:xfrm>
            <a:off x="0" y="1103136"/>
            <a:ext cx="10515600" cy="4351338"/>
          </a:xfrm>
        </p:spPr>
        <p:txBody>
          <a:bodyPr>
            <a:normAutofit fontScale="85000" lnSpcReduction="20000"/>
          </a:bodyPr>
          <a:lstStyle/>
          <a:p>
            <a:r>
              <a:rPr lang="en-US" dirty="0"/>
              <a:t> After the placement test is done and the talent acquisition provides language feedback and checks the box on the system the recruiter responsible originally for the candidate will be responsible again for providing level allocation and closing the candidate.</a:t>
            </a:r>
          </a:p>
          <a:p>
            <a:r>
              <a:rPr lang="en-US" b="1" dirty="0"/>
              <a:t>N.B:</a:t>
            </a:r>
            <a:r>
              <a:rPr lang="en-US" dirty="0"/>
              <a:t> At this stage, a mandatory checkbox must be added to the system to indicate the status of allocation feedback (level):</a:t>
            </a:r>
          </a:p>
          <a:p>
            <a:pPr>
              <a:buFont typeface="Arial" panose="020B0604020202020204" pitchFamily="34" charset="0"/>
              <a:buChar char="•"/>
            </a:pPr>
            <a:r>
              <a:rPr lang="en-US" dirty="0"/>
              <a:t>Allocation feedback provided– </a:t>
            </a:r>
            <a:r>
              <a:rPr lang="en-US" b="1" dirty="0"/>
              <a:t>Done</a:t>
            </a:r>
            <a:endParaRPr lang="en-US" dirty="0"/>
          </a:p>
          <a:p>
            <a:pPr>
              <a:buFont typeface="Arial" panose="020B0604020202020204" pitchFamily="34" charset="0"/>
              <a:buChar char="•"/>
            </a:pPr>
            <a:r>
              <a:rPr lang="en-US" dirty="0"/>
              <a:t>Allocation feedback provided– </a:t>
            </a:r>
            <a:r>
              <a:rPr lang="en-US" b="1" dirty="0" smtClean="0"/>
              <a:t>Pending</a:t>
            </a:r>
          </a:p>
          <a:p>
            <a:pPr>
              <a:buFont typeface="Arial" panose="020B0604020202020204" pitchFamily="34" charset="0"/>
              <a:buChar char="•"/>
            </a:pPr>
            <a:r>
              <a:rPr lang="en-US" b="1" dirty="0" smtClean="0"/>
              <a:t>Pending reason: 1) No Answer 2) Call Back 3) Validation</a:t>
            </a:r>
            <a:endParaRPr lang="en-US" dirty="0"/>
          </a:p>
          <a:p>
            <a:r>
              <a:rPr lang="en-US" dirty="0"/>
              <a:t>This step must be completed before proceeding to the next stage no one can proceed to next step unless this step is completed.** </a:t>
            </a:r>
          </a:p>
          <a:p>
            <a:r>
              <a:rPr lang="en-US" dirty="0"/>
              <a:t> Also the sheet of level allocation that we are currently using will be shared.</a:t>
            </a:r>
          </a:p>
          <a:p>
            <a:endParaRPr lang="en-US" dirty="0"/>
          </a:p>
        </p:txBody>
      </p:sp>
      <p:sp>
        <p:nvSpPr>
          <p:cNvPr id="4" name="Rectangle 3">
            <a:extLst>
              <a:ext uri="{FF2B5EF4-FFF2-40B4-BE49-F238E27FC236}">
                <a16:creationId xmlns:a16="http://schemas.microsoft.com/office/drawing/2014/main" id="{23956FE0-1987-1282-C9C9-A46109DCC90E}"/>
              </a:ext>
            </a:extLst>
          </p:cNvPr>
          <p:cNvSpPr/>
          <p:nvPr/>
        </p:nvSpPr>
        <p:spPr>
          <a:xfrm>
            <a:off x="4966384" y="2948771"/>
            <a:ext cx="158044" cy="1608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C0222DC-3A0B-D665-1562-3FEC04AB8521}"/>
              </a:ext>
            </a:extLst>
          </p:cNvPr>
          <p:cNvSpPr/>
          <p:nvPr/>
        </p:nvSpPr>
        <p:spPr>
          <a:xfrm>
            <a:off x="5257800" y="3309585"/>
            <a:ext cx="158044" cy="1608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423485D-5DCF-70AB-2123-C83D7A72E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878" y="5245205"/>
            <a:ext cx="8830907" cy="1019317"/>
          </a:xfrm>
          <a:prstGeom prst="rect">
            <a:avLst/>
          </a:prstGeom>
        </p:spPr>
      </p:pic>
    </p:spTree>
    <p:extLst>
      <p:ext uri="{BB962C8B-B14F-4D97-AF65-F5344CB8AC3E}">
        <p14:creationId xmlns:p14="http://schemas.microsoft.com/office/powerpoint/2010/main" val="2728472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BE95-CDA0-8ED4-AB24-0104313B3558}"/>
              </a:ext>
            </a:extLst>
          </p:cNvPr>
          <p:cNvSpPr>
            <a:spLocks noGrp="1"/>
          </p:cNvSpPr>
          <p:nvPr>
            <p:ph type="title"/>
          </p:nvPr>
        </p:nvSpPr>
        <p:spPr>
          <a:xfrm>
            <a:off x="-8467" y="18255"/>
            <a:ext cx="10515600" cy="1325563"/>
          </a:xfrm>
        </p:spPr>
        <p:txBody>
          <a:bodyPr/>
          <a:lstStyle/>
          <a:p>
            <a:r>
              <a:rPr lang="en-US" dirty="0">
                <a:solidFill>
                  <a:schemeClr val="accent1"/>
                </a:solidFill>
              </a:rPr>
              <a:t>Stage (6) Hiring plan:</a:t>
            </a:r>
            <a:endParaRPr lang="en-US" dirty="0"/>
          </a:p>
        </p:txBody>
      </p:sp>
      <p:sp>
        <p:nvSpPr>
          <p:cNvPr id="3" name="Content Placeholder 2">
            <a:extLst>
              <a:ext uri="{FF2B5EF4-FFF2-40B4-BE49-F238E27FC236}">
                <a16:creationId xmlns:a16="http://schemas.microsoft.com/office/drawing/2014/main" id="{050BB2A1-8301-146F-7987-6B161B0C8067}"/>
              </a:ext>
            </a:extLst>
          </p:cNvPr>
          <p:cNvSpPr>
            <a:spLocks noGrp="1"/>
          </p:cNvSpPr>
          <p:nvPr>
            <p:ph idx="1"/>
          </p:nvPr>
        </p:nvSpPr>
        <p:spPr>
          <a:xfrm>
            <a:off x="90311" y="1170252"/>
            <a:ext cx="10732911" cy="4517496"/>
          </a:xfrm>
        </p:spPr>
        <p:txBody>
          <a:bodyPr>
            <a:normAutofit fontScale="92500" lnSpcReduction="10000"/>
          </a:bodyPr>
          <a:lstStyle/>
          <a:p>
            <a:r>
              <a:rPr lang="en-US" dirty="0"/>
              <a:t> The Hiring Plan is prepared by the Training Lead and outlines the available classes scheduled to start each month. This plan is reviewed and updated on a monthly basis.</a:t>
            </a:r>
          </a:p>
          <a:p>
            <a:r>
              <a:rPr lang="en-US" dirty="0"/>
              <a:t>Once the allocation level is confirmed and payment is completed, the system must automatically assign the candidate to the appropriate class based on their allocated level.</a:t>
            </a:r>
          </a:p>
          <a:p>
            <a:r>
              <a:rPr lang="en-US" dirty="0"/>
              <a:t>For example, if a trainee named Hisham completes the placement test and is allocated an </a:t>
            </a:r>
            <a:r>
              <a:rPr lang="en-US" b="1" dirty="0"/>
              <a:t>A1.1</a:t>
            </a:r>
            <a:r>
              <a:rPr lang="en-US" dirty="0"/>
              <a:t> level, the system should automatically reflect his enrollment in the </a:t>
            </a:r>
            <a:r>
              <a:rPr lang="en-US" dirty="0" smtClean="0"/>
              <a:t>earliest available </a:t>
            </a:r>
            <a:r>
              <a:rPr lang="en-US" b="1" dirty="0" smtClean="0"/>
              <a:t>January </a:t>
            </a:r>
            <a:r>
              <a:rPr lang="en-US" b="1" dirty="0"/>
              <a:t>A1.1 </a:t>
            </a:r>
            <a:r>
              <a:rPr lang="en-US" b="1" dirty="0" smtClean="0"/>
              <a:t>class until the number of trainees reaches the requested number (12) </a:t>
            </a:r>
            <a:r>
              <a:rPr lang="en-US" dirty="0" smtClean="0"/>
              <a:t>. </a:t>
            </a:r>
            <a:endParaRPr lang="en-US" dirty="0"/>
          </a:p>
          <a:p>
            <a:r>
              <a:rPr lang="en-US" dirty="0"/>
              <a:t>Hiring plan example will be attached for further review and the next slide will contain an example for it.</a:t>
            </a:r>
          </a:p>
          <a:p>
            <a:endParaRPr lang="en-US" dirty="0"/>
          </a:p>
        </p:txBody>
      </p:sp>
      <p:pic>
        <p:nvPicPr>
          <p:cNvPr id="5" name="Picture 4">
            <a:extLst>
              <a:ext uri="{FF2B5EF4-FFF2-40B4-BE49-F238E27FC236}">
                <a16:creationId xmlns:a16="http://schemas.microsoft.com/office/drawing/2014/main" id="{9BC4DEAA-9AB8-FF43-F9CB-46D83C51A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162" y="5529703"/>
            <a:ext cx="8811855" cy="1000265"/>
          </a:xfrm>
          <a:prstGeom prst="rect">
            <a:avLst/>
          </a:prstGeom>
        </p:spPr>
      </p:pic>
    </p:spTree>
    <p:extLst>
      <p:ext uri="{BB962C8B-B14F-4D97-AF65-F5344CB8AC3E}">
        <p14:creationId xmlns:p14="http://schemas.microsoft.com/office/powerpoint/2010/main" val="1394561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837E-DC4A-BABA-49B6-C93F65B67F2B}"/>
              </a:ext>
            </a:extLst>
          </p:cNvPr>
          <p:cNvSpPr>
            <a:spLocks noGrp="1"/>
          </p:cNvSpPr>
          <p:nvPr>
            <p:ph type="title"/>
          </p:nvPr>
        </p:nvSpPr>
        <p:spPr>
          <a:xfrm>
            <a:off x="0" y="-165453"/>
            <a:ext cx="10515600" cy="1325563"/>
          </a:xfrm>
        </p:spPr>
        <p:txBody>
          <a:bodyPr/>
          <a:lstStyle/>
          <a:p>
            <a:r>
              <a:rPr lang="en-US" dirty="0"/>
              <a:t>Hiring plan example:</a:t>
            </a:r>
          </a:p>
        </p:txBody>
      </p:sp>
      <p:pic>
        <p:nvPicPr>
          <p:cNvPr id="13" name="Content Placeholder 12">
            <a:extLst>
              <a:ext uri="{FF2B5EF4-FFF2-40B4-BE49-F238E27FC236}">
                <a16:creationId xmlns:a16="http://schemas.microsoft.com/office/drawing/2014/main" id="{C436E737-9EC2-2FF7-6CBE-3049F646DE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16000"/>
            <a:ext cx="12192000" cy="5842000"/>
          </a:xfrm>
        </p:spPr>
      </p:pic>
    </p:spTree>
    <p:extLst>
      <p:ext uri="{BB962C8B-B14F-4D97-AF65-F5344CB8AC3E}">
        <p14:creationId xmlns:p14="http://schemas.microsoft.com/office/powerpoint/2010/main" val="3090229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CA011-8FE5-D59B-DFE5-EF7E7FF37747}"/>
              </a:ext>
            </a:extLst>
          </p:cNvPr>
          <p:cNvSpPr>
            <a:spLocks noGrp="1"/>
          </p:cNvSpPr>
          <p:nvPr>
            <p:ph type="title"/>
          </p:nvPr>
        </p:nvSpPr>
        <p:spPr>
          <a:xfrm>
            <a:off x="0" y="18255"/>
            <a:ext cx="10515600" cy="1325563"/>
          </a:xfrm>
        </p:spPr>
        <p:txBody>
          <a:bodyPr/>
          <a:lstStyle/>
          <a:p>
            <a:r>
              <a:rPr lang="en-US" dirty="0">
                <a:solidFill>
                  <a:schemeClr val="accent1"/>
                </a:solidFill>
              </a:rPr>
              <a:t>Stage (7) course details and Payment:</a:t>
            </a:r>
            <a:endParaRPr lang="en-US" dirty="0"/>
          </a:p>
        </p:txBody>
      </p:sp>
      <p:sp>
        <p:nvSpPr>
          <p:cNvPr id="3" name="Content Placeholder 2">
            <a:extLst>
              <a:ext uri="{FF2B5EF4-FFF2-40B4-BE49-F238E27FC236}">
                <a16:creationId xmlns:a16="http://schemas.microsoft.com/office/drawing/2014/main" id="{EF290C68-39B1-E1AB-E338-18DA26CB1A01}"/>
              </a:ext>
            </a:extLst>
          </p:cNvPr>
          <p:cNvSpPr>
            <a:spLocks noGrp="1"/>
          </p:cNvSpPr>
          <p:nvPr>
            <p:ph idx="1"/>
          </p:nvPr>
        </p:nvSpPr>
        <p:spPr>
          <a:xfrm>
            <a:off x="90311" y="1343818"/>
            <a:ext cx="11263489" cy="5344365"/>
          </a:xfrm>
        </p:spPr>
        <p:txBody>
          <a:bodyPr/>
          <a:lstStyle/>
          <a:p>
            <a:r>
              <a:rPr lang="en-US" dirty="0"/>
              <a:t>At this stage, once the trainee’s level is clearly reflected on the system, the recruiter proceeds with confirming the level allocation and collecting the payment from the candidate.</a:t>
            </a:r>
          </a:p>
          <a:p>
            <a:r>
              <a:rPr lang="en-US" dirty="0"/>
              <a:t>After payment, the system must include a mandatory checkbox to indicate the payment status (Paid / Not Paid), which will automatically reflect on the hiring plan</a:t>
            </a:r>
            <a:r>
              <a:rPr lang="en-US" dirty="0" smtClean="0"/>
              <a:t>.</a:t>
            </a:r>
          </a:p>
          <a:p>
            <a:r>
              <a:rPr lang="en-US" b="1" dirty="0" smtClean="0"/>
              <a:t>Another mandatory checkbox </a:t>
            </a:r>
            <a:r>
              <a:rPr lang="en-US" dirty="0" smtClean="0"/>
              <a:t>is for the Training Agreement (</a:t>
            </a:r>
            <a:r>
              <a:rPr lang="en-US" b="1" dirty="0" smtClean="0"/>
              <a:t>Signed/Not signed)</a:t>
            </a:r>
            <a:endParaRPr lang="en-US" b="1" dirty="0"/>
          </a:p>
          <a:p>
            <a:r>
              <a:rPr lang="en-US" dirty="0"/>
              <a:t>This step must be completed before proceeding to the next stage no one can proceed to next step unless this step is completed ** </a:t>
            </a:r>
          </a:p>
          <a:p>
            <a:endParaRPr lang="en-US" dirty="0"/>
          </a:p>
          <a:p>
            <a:pPr marL="0" indent="0">
              <a:buNone/>
            </a:pPr>
            <a:endParaRPr lang="en-US" dirty="0"/>
          </a:p>
        </p:txBody>
      </p:sp>
      <p:pic>
        <p:nvPicPr>
          <p:cNvPr id="5" name="Picture 4">
            <a:extLst>
              <a:ext uri="{FF2B5EF4-FFF2-40B4-BE49-F238E27FC236}">
                <a16:creationId xmlns:a16="http://schemas.microsoft.com/office/drawing/2014/main" id="{D7D5AF75-4214-3287-757F-8D4A4EF7F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964" y="5729225"/>
            <a:ext cx="8249801" cy="895475"/>
          </a:xfrm>
          <a:prstGeom prst="rect">
            <a:avLst/>
          </a:prstGeom>
        </p:spPr>
      </p:pic>
    </p:spTree>
    <p:extLst>
      <p:ext uri="{BB962C8B-B14F-4D97-AF65-F5344CB8AC3E}">
        <p14:creationId xmlns:p14="http://schemas.microsoft.com/office/powerpoint/2010/main" val="2140698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9FD98-A0E8-4F25-0004-10570642A06F}"/>
              </a:ext>
            </a:extLst>
          </p:cNvPr>
          <p:cNvSpPr>
            <a:spLocks noGrp="1"/>
          </p:cNvSpPr>
          <p:nvPr>
            <p:ph type="title"/>
          </p:nvPr>
        </p:nvSpPr>
        <p:spPr>
          <a:xfrm>
            <a:off x="0" y="0"/>
            <a:ext cx="10515600" cy="1325563"/>
          </a:xfrm>
        </p:spPr>
        <p:txBody>
          <a:bodyPr/>
          <a:lstStyle/>
          <a:p>
            <a:r>
              <a:rPr lang="en-US" dirty="0">
                <a:solidFill>
                  <a:schemeClr val="accent1"/>
                </a:solidFill>
              </a:rPr>
              <a:t>Stage (8) course enrollment and Training department:</a:t>
            </a:r>
            <a:endParaRPr lang="en-US" dirty="0"/>
          </a:p>
        </p:txBody>
      </p:sp>
      <p:sp>
        <p:nvSpPr>
          <p:cNvPr id="3" name="Content Placeholder 2">
            <a:extLst>
              <a:ext uri="{FF2B5EF4-FFF2-40B4-BE49-F238E27FC236}">
                <a16:creationId xmlns:a16="http://schemas.microsoft.com/office/drawing/2014/main" id="{B1D7249B-C308-A939-FE7B-6322488E0921}"/>
              </a:ext>
            </a:extLst>
          </p:cNvPr>
          <p:cNvSpPr>
            <a:spLocks noGrp="1"/>
          </p:cNvSpPr>
          <p:nvPr>
            <p:ph idx="1"/>
          </p:nvPr>
        </p:nvSpPr>
        <p:spPr>
          <a:xfrm>
            <a:off x="112889" y="1448859"/>
            <a:ext cx="11672711" cy="5380037"/>
          </a:xfrm>
        </p:spPr>
        <p:txBody>
          <a:bodyPr>
            <a:normAutofit fontScale="85000" lnSpcReduction="10000"/>
          </a:bodyPr>
          <a:lstStyle/>
          <a:p>
            <a:r>
              <a:rPr lang="en-US" dirty="0"/>
              <a:t>Now that the candidate has started their training, before the training begins, the following documents are required to ensure a smooth process:</a:t>
            </a:r>
          </a:p>
          <a:p>
            <a:r>
              <a:rPr lang="en-US" b="1" dirty="0"/>
              <a:t>Prior to the training:</a:t>
            </a:r>
            <a:endParaRPr lang="en-US" dirty="0"/>
          </a:p>
          <a:p>
            <a:pPr>
              <a:buFont typeface="Arial" panose="020B0604020202020204" pitchFamily="34" charset="0"/>
              <a:buChar char="•"/>
            </a:pPr>
            <a:r>
              <a:rPr lang="en-US" dirty="0"/>
              <a:t>At least one day before the training, the Allocation Team should send the initial expected list of the class, including trainees’ names and contact numbers. The sheet will be attached for review.</a:t>
            </a:r>
          </a:p>
          <a:p>
            <a:r>
              <a:rPr lang="en-US" b="1" dirty="0"/>
              <a:t>During the training, we will have:</a:t>
            </a:r>
            <a:endParaRPr lang="en-US" dirty="0"/>
          </a:p>
          <a:p>
            <a:pPr>
              <a:buFont typeface="+mj-lt"/>
              <a:buAutoNum type="arabicPeriod"/>
            </a:pPr>
            <a:r>
              <a:rPr lang="en-US" b="1" dirty="0"/>
              <a:t>Attendance sheet</a:t>
            </a:r>
            <a:r>
              <a:rPr lang="en-US" dirty="0"/>
              <a:t> – to track trainees’ adherence.</a:t>
            </a:r>
          </a:p>
          <a:p>
            <a:pPr>
              <a:buFont typeface="+mj-lt"/>
              <a:buAutoNum type="arabicPeriod"/>
            </a:pPr>
            <a:r>
              <a:rPr lang="en-US" b="1" dirty="0"/>
              <a:t>Performance report (SSR)</a:t>
            </a:r>
            <a:r>
              <a:rPr lang="en-US" dirty="0"/>
              <a:t> – to monitor progress.</a:t>
            </a:r>
          </a:p>
          <a:p>
            <a:pPr>
              <a:buFont typeface="+mj-lt"/>
              <a:buAutoNum type="arabicPeriod"/>
            </a:pPr>
            <a:r>
              <a:rPr lang="en-US" b="1" dirty="0"/>
              <a:t>Evaluations</a:t>
            </a:r>
            <a:r>
              <a:rPr lang="en-US" dirty="0"/>
              <a:t> – conducted by the Talent Acquisition department (mid and final evaluations).</a:t>
            </a:r>
          </a:p>
          <a:p>
            <a:pPr>
              <a:buFont typeface="+mj-lt"/>
              <a:buAutoNum type="arabicPeriod"/>
            </a:pPr>
            <a:r>
              <a:rPr lang="en-US" b="1" dirty="0"/>
              <a:t>Assignments</a:t>
            </a:r>
            <a:r>
              <a:rPr lang="en-US" dirty="0"/>
              <a:t> – sent by the trainer to the trainees.</a:t>
            </a:r>
          </a:p>
          <a:p>
            <a:pPr>
              <a:buFont typeface="+mj-lt"/>
              <a:buAutoNum type="arabicPeriod"/>
            </a:pPr>
            <a:r>
              <a:rPr lang="en-US" b="1" dirty="0"/>
              <a:t>Initial language details</a:t>
            </a:r>
            <a:r>
              <a:rPr lang="en-US" dirty="0"/>
              <a:t> – provided by the Talent Acquisition and Allocation departments.</a:t>
            </a:r>
          </a:p>
          <a:p>
            <a:r>
              <a:rPr lang="en-US" b="1" dirty="0"/>
              <a:t>All of the above documents will be attached in detail for further review.</a:t>
            </a:r>
            <a:endParaRPr lang="en-US" dirty="0"/>
          </a:p>
        </p:txBody>
      </p:sp>
    </p:spTree>
    <p:extLst>
      <p:ext uri="{BB962C8B-B14F-4D97-AF65-F5344CB8AC3E}">
        <p14:creationId xmlns:p14="http://schemas.microsoft.com/office/powerpoint/2010/main" val="1450326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46988-F92F-7FD4-185F-BEA452B0174C}"/>
              </a:ext>
            </a:extLst>
          </p:cNvPr>
          <p:cNvSpPr>
            <a:spLocks noGrp="1"/>
          </p:cNvSpPr>
          <p:nvPr>
            <p:ph type="title"/>
          </p:nvPr>
        </p:nvSpPr>
        <p:spPr>
          <a:xfrm>
            <a:off x="0" y="0"/>
            <a:ext cx="10515600" cy="1325563"/>
          </a:xfrm>
        </p:spPr>
        <p:txBody>
          <a:bodyPr/>
          <a:lstStyle/>
          <a:p>
            <a:r>
              <a:rPr lang="en-US" dirty="0">
                <a:solidFill>
                  <a:schemeClr val="accent1"/>
                </a:solidFill>
              </a:rPr>
              <a:t>Stage (9) Post Training: Final evaluation </a:t>
            </a:r>
            <a:endParaRPr lang="en-US" dirty="0"/>
          </a:p>
        </p:txBody>
      </p:sp>
      <p:sp>
        <p:nvSpPr>
          <p:cNvPr id="3" name="Content Placeholder 2">
            <a:extLst>
              <a:ext uri="{FF2B5EF4-FFF2-40B4-BE49-F238E27FC236}">
                <a16:creationId xmlns:a16="http://schemas.microsoft.com/office/drawing/2014/main" id="{66D78CAB-7F8C-1E4E-0706-C90244363DFA}"/>
              </a:ext>
            </a:extLst>
          </p:cNvPr>
          <p:cNvSpPr>
            <a:spLocks noGrp="1"/>
          </p:cNvSpPr>
          <p:nvPr>
            <p:ph idx="1"/>
          </p:nvPr>
        </p:nvSpPr>
        <p:spPr>
          <a:xfrm>
            <a:off x="0" y="1232340"/>
            <a:ext cx="10515600" cy="4393319"/>
          </a:xfrm>
        </p:spPr>
        <p:txBody>
          <a:bodyPr/>
          <a:lstStyle/>
          <a:p>
            <a:r>
              <a:rPr lang="en-US" dirty="0"/>
              <a:t> After trainees complete their training, they undergo a </a:t>
            </a:r>
            <a:r>
              <a:rPr lang="en-US" b="1" dirty="0"/>
              <a:t>final evaluation</a:t>
            </a:r>
            <a:r>
              <a:rPr lang="en-US" dirty="0"/>
              <a:t> at the end of the program to track their progress and determine reallocation. Following this, they return to the </a:t>
            </a:r>
            <a:r>
              <a:rPr lang="en-US" b="1" dirty="0"/>
              <a:t>Talent Acquisition (TA) team</a:t>
            </a:r>
            <a:r>
              <a:rPr lang="en-US" dirty="0"/>
              <a:t> for retesting and reallocation. Accordingly, the cycle starts again—conducting the test, providing language feedback, allocating the new level, and reflecting this in the hiring plan.</a:t>
            </a:r>
          </a:p>
          <a:p>
            <a:r>
              <a:rPr lang="en-US" dirty="0"/>
              <a:t>Currently, the </a:t>
            </a:r>
            <a:r>
              <a:rPr lang="en-US" b="1" dirty="0"/>
              <a:t>Allocation Team</a:t>
            </a:r>
            <a:r>
              <a:rPr lang="en-US" dirty="0"/>
              <a:t> is responsible for following up with trainees and providing them with level feedback, rather than the Sales Team. Therefore, we will follow the same steps, and the system should incorporate the same processes outlined in </a:t>
            </a:r>
            <a:r>
              <a:rPr lang="en-US" b="1" dirty="0"/>
              <a:t>slides 7, 8, and 9</a:t>
            </a:r>
            <a:r>
              <a:rPr lang="en-US" dirty="0"/>
              <a:t>.</a:t>
            </a:r>
          </a:p>
        </p:txBody>
      </p:sp>
      <p:pic>
        <p:nvPicPr>
          <p:cNvPr id="5" name="Picture 4">
            <a:extLst>
              <a:ext uri="{FF2B5EF4-FFF2-40B4-BE49-F238E27FC236}">
                <a16:creationId xmlns:a16="http://schemas.microsoft.com/office/drawing/2014/main" id="{15D21502-DA3E-04E4-B0E2-3CFDEBA8A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26756"/>
            <a:ext cx="11760031" cy="1507066"/>
          </a:xfrm>
          <a:prstGeom prst="rect">
            <a:avLst/>
          </a:prstGeom>
        </p:spPr>
      </p:pic>
    </p:spTree>
    <p:extLst>
      <p:ext uri="{BB962C8B-B14F-4D97-AF65-F5344CB8AC3E}">
        <p14:creationId xmlns:p14="http://schemas.microsoft.com/office/powerpoint/2010/main" val="2343182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601B-F7C8-AF8F-0DE3-43A9B3EF4AD4}"/>
              </a:ext>
            </a:extLst>
          </p:cNvPr>
          <p:cNvSpPr>
            <a:spLocks noGrp="1"/>
          </p:cNvSpPr>
          <p:nvPr>
            <p:ph type="title"/>
          </p:nvPr>
        </p:nvSpPr>
        <p:spPr>
          <a:xfrm>
            <a:off x="0" y="18255"/>
            <a:ext cx="10515600" cy="1325563"/>
          </a:xfrm>
        </p:spPr>
        <p:txBody>
          <a:bodyPr/>
          <a:lstStyle/>
          <a:p>
            <a:r>
              <a:rPr lang="en-US" dirty="0">
                <a:solidFill>
                  <a:schemeClr val="accent1"/>
                </a:solidFill>
              </a:rPr>
              <a:t>Stage (10) Post Training: Level allocation</a:t>
            </a:r>
            <a:endParaRPr lang="en-US" dirty="0"/>
          </a:p>
        </p:txBody>
      </p:sp>
      <p:sp>
        <p:nvSpPr>
          <p:cNvPr id="3" name="Content Placeholder 2">
            <a:extLst>
              <a:ext uri="{FF2B5EF4-FFF2-40B4-BE49-F238E27FC236}">
                <a16:creationId xmlns:a16="http://schemas.microsoft.com/office/drawing/2014/main" id="{5A868C40-F2DA-9933-C5D8-8DABEA421ABE}"/>
              </a:ext>
            </a:extLst>
          </p:cNvPr>
          <p:cNvSpPr>
            <a:spLocks noGrp="1"/>
          </p:cNvSpPr>
          <p:nvPr>
            <p:ph idx="1"/>
          </p:nvPr>
        </p:nvSpPr>
        <p:spPr>
          <a:xfrm>
            <a:off x="-1" y="1253330"/>
            <a:ext cx="10929257" cy="5208429"/>
          </a:xfrm>
        </p:spPr>
        <p:txBody>
          <a:bodyPr>
            <a:normAutofit fontScale="92500" lnSpcReduction="10000"/>
          </a:bodyPr>
          <a:lstStyle/>
          <a:p>
            <a:r>
              <a:rPr lang="en-US" dirty="0"/>
              <a:t>After the Final evaluation is done and the talent acquisition provides language feedback and checks the box on the </a:t>
            </a:r>
            <a:r>
              <a:rPr lang="en-US" dirty="0" smtClean="0"/>
              <a:t>system, </a:t>
            </a:r>
            <a:r>
              <a:rPr lang="en-US" dirty="0"/>
              <a:t>the Allocation team  will be responsible for providing level allocation and closing the candidate.</a:t>
            </a:r>
          </a:p>
          <a:p>
            <a:r>
              <a:rPr lang="en-US" b="1" dirty="0"/>
              <a:t>N.B:</a:t>
            </a:r>
            <a:r>
              <a:rPr lang="en-US" dirty="0"/>
              <a:t> At this stage, a mandatory checkbox must be added to the system to indicate the status of allocation feedback:</a:t>
            </a:r>
          </a:p>
          <a:p>
            <a:pPr>
              <a:buFont typeface="Arial" panose="020B0604020202020204" pitchFamily="34" charset="0"/>
              <a:buChar char="•"/>
            </a:pPr>
            <a:r>
              <a:rPr lang="en-US" dirty="0"/>
              <a:t>Allocation feedback provided– </a:t>
            </a:r>
            <a:r>
              <a:rPr lang="en-US" b="1" dirty="0"/>
              <a:t>Done</a:t>
            </a:r>
            <a:endParaRPr lang="en-US" dirty="0"/>
          </a:p>
          <a:p>
            <a:pPr>
              <a:buFont typeface="Arial" panose="020B0604020202020204" pitchFamily="34" charset="0"/>
              <a:buChar char="•"/>
            </a:pPr>
            <a:r>
              <a:rPr lang="en-US" dirty="0"/>
              <a:t>Allocation feedback provided– </a:t>
            </a:r>
            <a:r>
              <a:rPr lang="en-US" b="1" dirty="0"/>
              <a:t>Pending</a:t>
            </a:r>
            <a:endParaRPr lang="en-US" dirty="0"/>
          </a:p>
          <a:p>
            <a:r>
              <a:rPr lang="en-US" dirty="0"/>
              <a:t>This step must be completed before proceeding to the next stage no one can proceed to next step unless this step is completed.** </a:t>
            </a:r>
          </a:p>
          <a:p>
            <a:r>
              <a:rPr lang="en-US" dirty="0"/>
              <a:t>Once the allocation level is confirmed and </a:t>
            </a:r>
            <a:r>
              <a:rPr lang="en-US" b="1" dirty="0"/>
              <a:t>payment</a:t>
            </a:r>
            <a:r>
              <a:rPr lang="en-US" dirty="0"/>
              <a:t> is completed, the system must automatically assign the candidate to the appropriate class based on their allocated level.</a:t>
            </a:r>
          </a:p>
          <a:p>
            <a:r>
              <a:rPr lang="en-US" dirty="0"/>
              <a:t>Then we have the step of payment.</a:t>
            </a:r>
          </a:p>
          <a:p>
            <a:endParaRPr lang="en-US" dirty="0"/>
          </a:p>
        </p:txBody>
      </p:sp>
      <p:pic>
        <p:nvPicPr>
          <p:cNvPr id="5" name="Picture 4">
            <a:extLst>
              <a:ext uri="{FF2B5EF4-FFF2-40B4-BE49-F238E27FC236}">
                <a16:creationId xmlns:a16="http://schemas.microsoft.com/office/drawing/2014/main" id="{15DA426B-454C-CAA4-7DE9-3A39FF1DB8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93" y="5464292"/>
            <a:ext cx="9654273" cy="1096504"/>
          </a:xfrm>
          <a:prstGeom prst="rect">
            <a:avLst/>
          </a:prstGeom>
        </p:spPr>
      </p:pic>
      <p:sp>
        <p:nvSpPr>
          <p:cNvPr id="6" name="Rectangle 5">
            <a:extLst>
              <a:ext uri="{FF2B5EF4-FFF2-40B4-BE49-F238E27FC236}">
                <a16:creationId xmlns:a16="http://schemas.microsoft.com/office/drawing/2014/main" id="{A51C7845-7C33-8ADB-03E5-A1F76F085743}"/>
              </a:ext>
            </a:extLst>
          </p:cNvPr>
          <p:cNvSpPr/>
          <p:nvPr/>
        </p:nvSpPr>
        <p:spPr>
          <a:xfrm>
            <a:off x="4886952" y="2822222"/>
            <a:ext cx="146755" cy="191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D155317-42DC-609C-2076-24EFE9C500DE}"/>
              </a:ext>
            </a:extLst>
          </p:cNvPr>
          <p:cNvSpPr/>
          <p:nvPr/>
        </p:nvSpPr>
        <p:spPr>
          <a:xfrm>
            <a:off x="5263444" y="3237089"/>
            <a:ext cx="146755" cy="191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0116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9FE2F-A907-29FD-F855-CF4DC8496983}"/>
              </a:ext>
            </a:extLst>
          </p:cNvPr>
          <p:cNvSpPr>
            <a:spLocks noGrp="1"/>
          </p:cNvSpPr>
          <p:nvPr>
            <p:ph type="title"/>
          </p:nvPr>
        </p:nvSpPr>
        <p:spPr>
          <a:xfrm>
            <a:off x="0" y="0"/>
            <a:ext cx="10515600" cy="1325563"/>
          </a:xfrm>
        </p:spPr>
        <p:txBody>
          <a:bodyPr/>
          <a:lstStyle/>
          <a:p>
            <a:r>
              <a:rPr lang="en-US" dirty="0"/>
              <a:t>Areas Requiring Analysis from the system : </a:t>
            </a:r>
          </a:p>
        </p:txBody>
      </p:sp>
      <p:sp>
        <p:nvSpPr>
          <p:cNvPr id="3" name="Content Placeholder 2">
            <a:extLst>
              <a:ext uri="{FF2B5EF4-FFF2-40B4-BE49-F238E27FC236}">
                <a16:creationId xmlns:a16="http://schemas.microsoft.com/office/drawing/2014/main" id="{E59AE57E-BDC0-66C5-31E5-C9C91AE44187}"/>
              </a:ext>
            </a:extLst>
          </p:cNvPr>
          <p:cNvSpPr>
            <a:spLocks noGrp="1"/>
          </p:cNvSpPr>
          <p:nvPr>
            <p:ph idx="1"/>
          </p:nvPr>
        </p:nvSpPr>
        <p:spPr>
          <a:xfrm>
            <a:off x="81845" y="1137003"/>
            <a:ext cx="10515600" cy="5246380"/>
          </a:xfrm>
        </p:spPr>
        <p:txBody>
          <a:bodyPr>
            <a:normAutofit fontScale="92500" lnSpcReduction="20000"/>
          </a:bodyPr>
          <a:lstStyle/>
          <a:p>
            <a:pPr>
              <a:buFont typeface="Arial" panose="020B0604020202020204" pitchFamily="34" charset="0"/>
              <a:buChar char="•"/>
            </a:pPr>
            <a:r>
              <a:rPr lang="en-US" dirty="0"/>
              <a:t> </a:t>
            </a:r>
            <a:r>
              <a:rPr lang="en-US" b="1" dirty="0"/>
              <a:t>Exit Conversion Rate:</a:t>
            </a:r>
            <a:r>
              <a:rPr lang="en-US" dirty="0"/>
              <a:t> Number of trainees who progressed to the next level after completing a level.</a:t>
            </a:r>
          </a:p>
          <a:p>
            <a:pPr>
              <a:buFont typeface="Arial" panose="020B0604020202020204" pitchFamily="34" charset="0"/>
              <a:buChar char="•"/>
            </a:pPr>
            <a:r>
              <a:rPr lang="en-US" b="1" dirty="0"/>
              <a:t>Trainee Attrition:</a:t>
            </a:r>
            <a:r>
              <a:rPr lang="en-US" dirty="0"/>
              <a:t> Number of trainees who dropped out (tracked through the attendance sheet).</a:t>
            </a:r>
          </a:p>
          <a:p>
            <a:pPr>
              <a:buFont typeface="Arial" panose="020B0604020202020204" pitchFamily="34" charset="0"/>
              <a:buChar char="•"/>
            </a:pPr>
            <a:r>
              <a:rPr lang="en-US" b="1" dirty="0"/>
              <a:t>Number of </a:t>
            </a:r>
            <a:r>
              <a:rPr lang="en-US" b="1" dirty="0" smtClean="0"/>
              <a:t>Re-joiners</a:t>
            </a:r>
            <a:r>
              <a:rPr lang="en-US" b="1" dirty="0"/>
              <a:t>:</a:t>
            </a:r>
            <a:r>
              <a:rPr lang="en-US" dirty="0"/>
              <a:t> Trainees who did not pass the level according to the final evaluation and rejoined the same level.</a:t>
            </a:r>
          </a:p>
          <a:p>
            <a:pPr>
              <a:buFont typeface="Arial" panose="020B0604020202020204" pitchFamily="34" charset="0"/>
              <a:buChar char="•"/>
            </a:pPr>
            <a:r>
              <a:rPr lang="en-US" b="1" dirty="0"/>
              <a:t>Success Rate:</a:t>
            </a:r>
            <a:r>
              <a:rPr lang="en-US" dirty="0"/>
              <a:t> Number of trainees who passed the level according to the final evaluation.</a:t>
            </a:r>
          </a:p>
          <a:p>
            <a:pPr>
              <a:buFont typeface="Arial" panose="020B0604020202020204" pitchFamily="34" charset="0"/>
              <a:buChar char="•"/>
            </a:pPr>
            <a:r>
              <a:rPr lang="en-US" b="1" dirty="0"/>
              <a:t>Source Analysis:</a:t>
            </a:r>
            <a:r>
              <a:rPr lang="en-US" dirty="0"/>
              <a:t> Identify the sources from which we have the most trainees.</a:t>
            </a:r>
          </a:p>
          <a:p>
            <a:pPr>
              <a:buFont typeface="Arial" panose="020B0604020202020204" pitchFamily="34" charset="0"/>
              <a:buChar char="•"/>
            </a:pPr>
            <a:r>
              <a:rPr lang="en-US" b="1" dirty="0"/>
              <a:t>Most Common Levels:</a:t>
            </a:r>
            <a:r>
              <a:rPr lang="en-US" dirty="0"/>
              <a:t> Determine which levels have the highest number of trainees.</a:t>
            </a:r>
          </a:p>
          <a:p>
            <a:pPr>
              <a:buFont typeface="Arial" panose="020B0604020202020204" pitchFamily="34" charset="0"/>
              <a:buChar char="•"/>
            </a:pPr>
            <a:r>
              <a:rPr lang="en-US" b="1" dirty="0"/>
              <a:t>Pending Final Evaluation:</a:t>
            </a:r>
            <a:r>
              <a:rPr lang="en-US" dirty="0"/>
              <a:t> Number of trainees who did not complete their final evaluation in classes.</a:t>
            </a:r>
          </a:p>
          <a:p>
            <a:pPr lvl="1"/>
            <a:endParaRPr lang="en-US" dirty="0"/>
          </a:p>
          <a:p>
            <a:pPr lvl="1"/>
            <a:endParaRPr lang="en-US" dirty="0"/>
          </a:p>
        </p:txBody>
      </p:sp>
    </p:spTree>
    <p:extLst>
      <p:ext uri="{BB962C8B-B14F-4D97-AF65-F5344CB8AC3E}">
        <p14:creationId xmlns:p14="http://schemas.microsoft.com/office/powerpoint/2010/main" val="4151061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9FE2F-A907-29FD-F855-CF4DC8496983}"/>
              </a:ext>
            </a:extLst>
          </p:cNvPr>
          <p:cNvSpPr>
            <a:spLocks noGrp="1"/>
          </p:cNvSpPr>
          <p:nvPr>
            <p:ph type="title"/>
          </p:nvPr>
        </p:nvSpPr>
        <p:spPr>
          <a:xfrm>
            <a:off x="0" y="0"/>
            <a:ext cx="10515600" cy="1325563"/>
          </a:xfrm>
        </p:spPr>
        <p:txBody>
          <a:bodyPr/>
          <a:lstStyle/>
          <a:p>
            <a:r>
              <a:rPr lang="en-US" dirty="0"/>
              <a:t>Areas Requiring Analysis from the system : </a:t>
            </a:r>
          </a:p>
        </p:txBody>
      </p:sp>
      <p:sp>
        <p:nvSpPr>
          <p:cNvPr id="3" name="Content Placeholder 2">
            <a:extLst>
              <a:ext uri="{FF2B5EF4-FFF2-40B4-BE49-F238E27FC236}">
                <a16:creationId xmlns:a16="http://schemas.microsoft.com/office/drawing/2014/main" id="{E59AE57E-BDC0-66C5-31E5-C9C91AE44187}"/>
              </a:ext>
            </a:extLst>
          </p:cNvPr>
          <p:cNvSpPr>
            <a:spLocks noGrp="1"/>
          </p:cNvSpPr>
          <p:nvPr>
            <p:ph idx="1"/>
          </p:nvPr>
        </p:nvSpPr>
        <p:spPr>
          <a:xfrm>
            <a:off x="81845" y="1137003"/>
            <a:ext cx="10515600" cy="5246380"/>
          </a:xfrm>
        </p:spPr>
        <p:txBody>
          <a:bodyPr>
            <a:normAutofit/>
          </a:bodyPr>
          <a:lstStyle/>
          <a:p>
            <a:pPr>
              <a:buFont typeface="Arial" panose="020B0604020202020204" pitchFamily="34" charset="0"/>
              <a:buChar char="•"/>
            </a:pPr>
            <a:r>
              <a:rPr lang="en-US" dirty="0"/>
              <a:t> </a:t>
            </a:r>
            <a:r>
              <a:rPr lang="en-US" b="1" dirty="0" smtClean="0"/>
              <a:t>Geographic Distribution</a:t>
            </a:r>
            <a:r>
              <a:rPr lang="en-US" b="1" dirty="0" smtClean="0"/>
              <a:t>: </a:t>
            </a:r>
            <a:r>
              <a:rPr lang="en-US" dirty="0" smtClean="0"/>
              <a:t>Geographic areas where most candidates apply .</a:t>
            </a:r>
            <a:endParaRPr lang="en-US" dirty="0"/>
          </a:p>
          <a:p>
            <a:pPr>
              <a:buFont typeface="Arial" panose="020B0604020202020204" pitchFamily="34" charset="0"/>
              <a:buChar char="•"/>
            </a:pPr>
            <a:r>
              <a:rPr lang="en-US" b="1" dirty="0" smtClean="0"/>
              <a:t>Graduation status: </a:t>
            </a:r>
            <a:r>
              <a:rPr lang="en-US" dirty="0" smtClean="0"/>
              <a:t>number of grads versus undergrads</a:t>
            </a:r>
            <a:r>
              <a:rPr lang="en-US" dirty="0" smtClean="0"/>
              <a:t>.</a:t>
            </a:r>
            <a:endParaRPr lang="en-US" dirty="0"/>
          </a:p>
          <a:p>
            <a:pPr>
              <a:buFont typeface="Arial" panose="020B0604020202020204" pitchFamily="34" charset="0"/>
              <a:buChar char="•"/>
            </a:pPr>
            <a:r>
              <a:rPr lang="en-US" b="1" dirty="0" smtClean="0"/>
              <a:t>Age</a:t>
            </a:r>
            <a:r>
              <a:rPr lang="en-US" b="1" dirty="0" smtClean="0"/>
              <a:t>: the most predominant age group </a:t>
            </a:r>
            <a:r>
              <a:rPr lang="en-US" dirty="0" smtClean="0"/>
              <a:t>(e.g., 20-25).</a:t>
            </a:r>
            <a:endParaRPr lang="en-US" dirty="0"/>
          </a:p>
          <a:p>
            <a:pPr>
              <a:buFont typeface="Arial" panose="020B0604020202020204" pitchFamily="34" charset="0"/>
              <a:buChar char="•"/>
            </a:pPr>
            <a:r>
              <a:rPr lang="en-US" b="1" dirty="0" smtClean="0"/>
              <a:t>Working status: </a:t>
            </a:r>
            <a:r>
              <a:rPr lang="en-US" dirty="0" smtClean="0"/>
              <a:t>number of trainees working/not working at the time of application/training.</a:t>
            </a:r>
          </a:p>
          <a:p>
            <a:pPr>
              <a:buFont typeface="Arial" panose="020B0604020202020204" pitchFamily="34" charset="0"/>
              <a:buChar char="•"/>
            </a:pPr>
            <a:endParaRPr lang="en-US" dirty="0"/>
          </a:p>
          <a:p>
            <a:pPr marL="0" indent="0">
              <a:buNone/>
            </a:pPr>
            <a:r>
              <a:rPr lang="en-US" dirty="0" smtClean="0"/>
              <a:t>Th</a:t>
            </a:r>
            <a:r>
              <a:rPr lang="en-US" dirty="0" smtClean="0"/>
              <a:t>e above can be extracted from the booking and placement data/expected list</a:t>
            </a:r>
            <a:endParaRPr lang="en-US" dirty="0"/>
          </a:p>
          <a:p>
            <a:pPr lvl="1"/>
            <a:endParaRPr lang="en-US" dirty="0"/>
          </a:p>
          <a:p>
            <a:pPr lvl="1"/>
            <a:endParaRPr lang="en-US" dirty="0"/>
          </a:p>
        </p:txBody>
      </p:sp>
    </p:spTree>
    <p:extLst>
      <p:ext uri="{BB962C8B-B14F-4D97-AF65-F5344CB8AC3E}">
        <p14:creationId xmlns:p14="http://schemas.microsoft.com/office/powerpoint/2010/main" val="2839271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0C0EE-F691-1EC7-A7AE-829C29752A91}"/>
              </a:ext>
            </a:extLst>
          </p:cNvPr>
          <p:cNvSpPr>
            <a:spLocks noGrp="1"/>
          </p:cNvSpPr>
          <p:nvPr>
            <p:ph type="title"/>
          </p:nvPr>
        </p:nvSpPr>
        <p:spPr>
          <a:xfrm>
            <a:off x="2822" y="18255"/>
            <a:ext cx="10515600" cy="1325563"/>
          </a:xfrm>
        </p:spPr>
        <p:txBody>
          <a:bodyPr/>
          <a:lstStyle/>
          <a:p>
            <a:r>
              <a:rPr lang="en-US" dirty="0"/>
              <a:t>Stages that would require follow up notifications from the system :</a:t>
            </a:r>
          </a:p>
        </p:txBody>
      </p:sp>
      <p:sp>
        <p:nvSpPr>
          <p:cNvPr id="3" name="Content Placeholder 2">
            <a:extLst>
              <a:ext uri="{FF2B5EF4-FFF2-40B4-BE49-F238E27FC236}">
                <a16:creationId xmlns:a16="http://schemas.microsoft.com/office/drawing/2014/main" id="{CCB9FD16-46FD-44AB-2C35-7A30EB43878D}"/>
              </a:ext>
            </a:extLst>
          </p:cNvPr>
          <p:cNvSpPr>
            <a:spLocks noGrp="1"/>
          </p:cNvSpPr>
          <p:nvPr>
            <p:ph idx="1"/>
          </p:nvPr>
        </p:nvSpPr>
        <p:spPr>
          <a:xfrm>
            <a:off x="2822" y="1343818"/>
            <a:ext cx="11940822" cy="5514182"/>
          </a:xfrm>
        </p:spPr>
        <p:txBody>
          <a:bodyPr>
            <a:normAutofit fontScale="47500" lnSpcReduction="20000"/>
          </a:bodyPr>
          <a:lstStyle/>
          <a:p>
            <a:endParaRPr lang="en-US" dirty="0">
              <a:solidFill>
                <a:schemeClr val="accent1"/>
              </a:solidFill>
            </a:endParaRPr>
          </a:p>
          <a:p>
            <a:r>
              <a:rPr lang="en-US" sz="3300" b="1" dirty="0">
                <a:solidFill>
                  <a:schemeClr val="accent1"/>
                </a:solidFill>
              </a:rPr>
              <a:t>Prior to Stage 1:</a:t>
            </a:r>
          </a:p>
          <a:p>
            <a:pPr marL="0" indent="0">
              <a:buNone/>
            </a:pPr>
            <a:endParaRPr lang="en-US" sz="3300" dirty="0">
              <a:solidFill>
                <a:schemeClr val="accent1"/>
              </a:solidFill>
            </a:endParaRPr>
          </a:p>
          <a:p>
            <a:pPr marL="0" indent="0">
              <a:buNone/>
            </a:pPr>
            <a:r>
              <a:rPr lang="en-US" sz="3300" dirty="0"/>
              <a:t>For unreachable candidates, callbacks, or those who are “not interested right now.”</a:t>
            </a:r>
          </a:p>
          <a:p>
            <a:pPr marL="0" indent="0">
              <a:buNone/>
            </a:pPr>
            <a:endParaRPr lang="en-US" sz="3300" dirty="0"/>
          </a:p>
          <a:p>
            <a:r>
              <a:rPr lang="en-US" sz="3300" b="1" dirty="0">
                <a:solidFill>
                  <a:schemeClr val="accent1"/>
                </a:solidFill>
              </a:rPr>
              <a:t>Stage 1 – Recruiters:</a:t>
            </a:r>
          </a:p>
          <a:p>
            <a:endParaRPr lang="en-US" sz="3300" dirty="0">
              <a:solidFill>
                <a:schemeClr val="accent1"/>
              </a:solidFill>
            </a:endParaRPr>
          </a:p>
          <a:p>
            <a:pPr marL="0" indent="0">
              <a:buNone/>
            </a:pPr>
            <a:r>
              <a:rPr lang="en-US" sz="3300" dirty="0"/>
              <a:t>While calling a candidate, if it is not possible to book a placement on the same call, </a:t>
            </a:r>
            <a:r>
              <a:rPr lang="en-US" sz="3300" b="1" dirty="0"/>
              <a:t>follow-up calls</a:t>
            </a:r>
            <a:r>
              <a:rPr lang="en-US" sz="3300" dirty="0"/>
              <a:t> should be scheduled to finalize the placement.</a:t>
            </a:r>
          </a:p>
          <a:p>
            <a:pPr marL="0" indent="0">
              <a:buNone/>
            </a:pPr>
            <a:r>
              <a:rPr lang="en-US" sz="3300" dirty="0"/>
              <a:t>If the candidate’s placement is booked but the process cannot proceed in the system due to missing information, a </a:t>
            </a:r>
            <a:r>
              <a:rPr lang="en-US" sz="3300" b="1" dirty="0"/>
              <a:t>notification</a:t>
            </a:r>
            <a:r>
              <a:rPr lang="en-US" sz="3300" dirty="0"/>
              <a:t> should remind the recruiter to call the candidate immediately to complete missing info to continue to the next stage (Booking Stage).</a:t>
            </a:r>
          </a:p>
          <a:p>
            <a:pPr marL="0" indent="0">
              <a:buNone/>
            </a:pPr>
            <a:endParaRPr lang="en-US" sz="3300" dirty="0"/>
          </a:p>
          <a:p>
            <a:r>
              <a:rPr lang="en-US" sz="3300" b="1" dirty="0">
                <a:solidFill>
                  <a:schemeClr val="accent1"/>
                </a:solidFill>
              </a:rPr>
              <a:t>Stage 3 – Payment:</a:t>
            </a:r>
          </a:p>
          <a:p>
            <a:pPr marL="0" indent="0">
              <a:buNone/>
            </a:pPr>
            <a:endParaRPr lang="en-US" sz="3300" dirty="0">
              <a:solidFill>
                <a:schemeClr val="accent1"/>
              </a:solidFill>
            </a:endParaRPr>
          </a:p>
          <a:p>
            <a:pPr marL="0" indent="0">
              <a:buNone/>
            </a:pPr>
            <a:r>
              <a:rPr lang="en-US" sz="3300" dirty="0"/>
              <a:t>Pending placement test payments.</a:t>
            </a:r>
          </a:p>
          <a:p>
            <a:pPr marL="0" indent="0">
              <a:buNone/>
            </a:pPr>
            <a:endParaRPr lang="en-US" sz="3300" dirty="0"/>
          </a:p>
          <a:p>
            <a:pPr marL="0" indent="0">
              <a:buNone/>
            </a:pPr>
            <a:endParaRPr lang="en-US" dirty="0"/>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1897187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4C574F-B2E3-DD13-A013-9ECCC2AFF250}"/>
              </a:ext>
            </a:extLst>
          </p:cNvPr>
          <p:cNvSpPr txBox="1"/>
          <p:nvPr/>
        </p:nvSpPr>
        <p:spPr>
          <a:xfrm>
            <a:off x="0" y="-1"/>
            <a:ext cx="11131826" cy="7017306"/>
          </a:xfrm>
          <a:prstGeom prst="rect">
            <a:avLst/>
          </a:prstGeom>
          <a:noFill/>
        </p:spPr>
        <p:txBody>
          <a:bodyPr wrap="square">
            <a:spAutoFit/>
          </a:bodyPr>
          <a:lstStyle/>
          <a:p>
            <a:pPr marL="285750" indent="-285750">
              <a:buFont typeface="Arial" panose="020B0604020202020204" pitchFamily="34" charset="0"/>
              <a:buChar char="•"/>
            </a:pPr>
            <a:r>
              <a:rPr lang="en-US" b="1" dirty="0">
                <a:solidFill>
                  <a:schemeClr val="accent1"/>
                </a:solidFill>
              </a:rPr>
              <a:t>Stage 4 – Placements:</a:t>
            </a:r>
          </a:p>
          <a:p>
            <a:endParaRPr lang="en-US" dirty="0">
              <a:solidFill>
                <a:schemeClr val="accent1"/>
              </a:solidFill>
            </a:endParaRPr>
          </a:p>
          <a:p>
            <a:r>
              <a:rPr lang="en-US" dirty="0"/>
              <a:t>Candidates booked but did not show up for placements.</a:t>
            </a:r>
          </a:p>
          <a:p>
            <a:endParaRPr lang="en-US" dirty="0"/>
          </a:p>
          <a:p>
            <a:endParaRPr lang="en-US" dirty="0"/>
          </a:p>
          <a:p>
            <a:pPr marL="285750" indent="-285750">
              <a:buFont typeface="Arial" panose="020B0604020202020204" pitchFamily="34" charset="0"/>
              <a:buChar char="•"/>
            </a:pPr>
            <a:r>
              <a:rPr lang="en-US" b="1" dirty="0">
                <a:solidFill>
                  <a:schemeClr val="accent1"/>
                </a:solidFill>
              </a:rPr>
              <a:t>Stages 4 &amp; 5:</a:t>
            </a:r>
          </a:p>
          <a:p>
            <a:endParaRPr lang="en-US" dirty="0">
              <a:solidFill>
                <a:schemeClr val="accent1"/>
              </a:solidFill>
            </a:endParaRPr>
          </a:p>
          <a:p>
            <a:r>
              <a:rPr lang="en-US" dirty="0"/>
              <a:t>Pending language feedback or pending level allocation in the system.</a:t>
            </a:r>
          </a:p>
          <a:p>
            <a:endParaRPr lang="en-US" dirty="0"/>
          </a:p>
          <a:p>
            <a:endParaRPr lang="en-US" dirty="0"/>
          </a:p>
          <a:p>
            <a:pPr marL="285750" indent="-285750">
              <a:buFont typeface="Arial" panose="020B0604020202020204" pitchFamily="34" charset="0"/>
              <a:buChar char="•"/>
            </a:pPr>
            <a:r>
              <a:rPr lang="en-US" b="1" dirty="0">
                <a:solidFill>
                  <a:schemeClr val="accent1"/>
                </a:solidFill>
              </a:rPr>
              <a:t>Stage 7 – Course Details and Payment:</a:t>
            </a:r>
          </a:p>
          <a:p>
            <a:endParaRPr lang="en-US" dirty="0">
              <a:solidFill>
                <a:schemeClr val="accent1"/>
              </a:solidFill>
            </a:endParaRPr>
          </a:p>
          <a:p>
            <a:r>
              <a:rPr lang="en-US" dirty="0"/>
              <a:t>Pending payments or payments not recorded in the system.</a:t>
            </a:r>
          </a:p>
          <a:p>
            <a:endParaRPr lang="en-US" dirty="0"/>
          </a:p>
          <a:p>
            <a:endParaRPr lang="en-US" dirty="0"/>
          </a:p>
          <a:p>
            <a:pPr marL="285750" indent="-285750">
              <a:buFont typeface="Arial" panose="020B0604020202020204" pitchFamily="34" charset="0"/>
              <a:buChar char="•"/>
            </a:pPr>
            <a:r>
              <a:rPr lang="en-US" b="1" dirty="0">
                <a:solidFill>
                  <a:schemeClr val="accent1"/>
                </a:solidFill>
              </a:rPr>
              <a:t>Stage 8 – Course Enrollment and Training Department:</a:t>
            </a:r>
          </a:p>
          <a:p>
            <a:endParaRPr lang="en-US" dirty="0">
              <a:solidFill>
                <a:schemeClr val="accent1"/>
              </a:solidFill>
            </a:endParaRPr>
          </a:p>
          <a:p>
            <a:r>
              <a:rPr lang="en-US" dirty="0"/>
              <a:t>1)Attendance or adherence issues.</a:t>
            </a:r>
          </a:p>
          <a:p>
            <a:endParaRPr lang="en-US" dirty="0"/>
          </a:p>
          <a:p>
            <a:r>
              <a:rPr lang="en-US" dirty="0"/>
              <a:t>2)Attrition cases.</a:t>
            </a:r>
          </a:p>
          <a:p>
            <a:endParaRPr lang="en-US" dirty="0"/>
          </a:p>
          <a:p>
            <a:pPr marL="285750" indent="-285750">
              <a:buFont typeface="Arial" panose="020B0604020202020204" pitchFamily="34" charset="0"/>
              <a:buChar char="•"/>
            </a:pPr>
            <a:r>
              <a:rPr lang="en-US" b="1" dirty="0">
                <a:solidFill>
                  <a:schemeClr val="accent1"/>
                </a:solidFill>
              </a:rPr>
              <a:t>Stages 9 &amp; 10 – Post Training:</a:t>
            </a:r>
          </a:p>
          <a:p>
            <a:endParaRPr lang="en-US" dirty="0">
              <a:solidFill>
                <a:schemeClr val="accent1"/>
              </a:solidFill>
            </a:endParaRPr>
          </a:p>
          <a:p>
            <a:r>
              <a:rPr lang="en-US" dirty="0"/>
              <a:t>Pending or incomplete language feedback or level allocation feedback.</a:t>
            </a:r>
          </a:p>
          <a:p>
            <a:endParaRPr lang="en-US" dirty="0"/>
          </a:p>
        </p:txBody>
      </p:sp>
    </p:spTree>
    <p:extLst>
      <p:ext uri="{BB962C8B-B14F-4D97-AF65-F5344CB8AC3E}">
        <p14:creationId xmlns:p14="http://schemas.microsoft.com/office/powerpoint/2010/main" val="1851811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97CD9-FA01-81C6-0E74-014D6CCEED6F}"/>
              </a:ext>
            </a:extLst>
          </p:cNvPr>
          <p:cNvSpPr>
            <a:spLocks noGrp="1"/>
          </p:cNvSpPr>
          <p:nvPr>
            <p:ph type="title"/>
          </p:nvPr>
        </p:nvSpPr>
        <p:spPr>
          <a:xfrm>
            <a:off x="0" y="-142875"/>
            <a:ext cx="10515600" cy="1325563"/>
          </a:xfrm>
        </p:spPr>
        <p:txBody>
          <a:bodyPr/>
          <a:lstStyle/>
          <a:p>
            <a:r>
              <a:rPr lang="en-US" dirty="0"/>
              <a:t>Levels that we currently provide:</a:t>
            </a:r>
          </a:p>
        </p:txBody>
      </p:sp>
      <p:sp>
        <p:nvSpPr>
          <p:cNvPr id="3" name="Content Placeholder 2">
            <a:extLst>
              <a:ext uri="{FF2B5EF4-FFF2-40B4-BE49-F238E27FC236}">
                <a16:creationId xmlns:a16="http://schemas.microsoft.com/office/drawing/2014/main" id="{6353D661-30A3-F59D-2AB0-39E2133E7B63}"/>
              </a:ext>
            </a:extLst>
          </p:cNvPr>
          <p:cNvSpPr>
            <a:spLocks noGrp="1"/>
          </p:cNvSpPr>
          <p:nvPr>
            <p:ph idx="1"/>
          </p:nvPr>
        </p:nvSpPr>
        <p:spPr>
          <a:xfrm>
            <a:off x="183445" y="1057981"/>
            <a:ext cx="10515600" cy="4351338"/>
          </a:xfrm>
        </p:spPr>
        <p:txBody>
          <a:bodyPr>
            <a:normAutofit fontScale="92500" lnSpcReduction="20000"/>
          </a:bodyPr>
          <a:lstStyle/>
          <a:p>
            <a:r>
              <a:rPr lang="en-US" dirty="0"/>
              <a:t>Foundation.</a:t>
            </a:r>
          </a:p>
          <a:p>
            <a:r>
              <a:rPr lang="en-US" dirty="0"/>
              <a:t>True beginners.</a:t>
            </a:r>
          </a:p>
          <a:p>
            <a:r>
              <a:rPr lang="en-US" dirty="0"/>
              <a:t>A1.1.</a:t>
            </a:r>
          </a:p>
          <a:p>
            <a:r>
              <a:rPr lang="en-US" dirty="0"/>
              <a:t>A1.2.</a:t>
            </a:r>
          </a:p>
          <a:p>
            <a:r>
              <a:rPr lang="en-US" dirty="0"/>
              <a:t>A2.1.</a:t>
            </a:r>
          </a:p>
          <a:p>
            <a:r>
              <a:rPr lang="en-US" dirty="0"/>
              <a:t>A2.2.</a:t>
            </a:r>
          </a:p>
          <a:p>
            <a:r>
              <a:rPr lang="en-US" dirty="0"/>
              <a:t>B1.</a:t>
            </a:r>
          </a:p>
          <a:p>
            <a:r>
              <a:rPr lang="en-US" dirty="0"/>
              <a:t>B1+.</a:t>
            </a:r>
          </a:p>
          <a:p>
            <a:r>
              <a:rPr lang="en-US" dirty="0"/>
              <a:t>Train to </a:t>
            </a:r>
            <a:r>
              <a:rPr lang="en-US" dirty="0" smtClean="0"/>
              <a:t>hire 1</a:t>
            </a:r>
          </a:p>
          <a:p>
            <a:r>
              <a:rPr lang="en-US" dirty="0" smtClean="0"/>
              <a:t>Train </a:t>
            </a:r>
            <a:r>
              <a:rPr lang="en-US" smtClean="0"/>
              <a:t>to hire 2</a:t>
            </a:r>
            <a:r>
              <a:rPr lang="en-US" smtClean="0"/>
              <a:t>. </a:t>
            </a:r>
            <a:endParaRPr lang="en-US" dirty="0"/>
          </a:p>
          <a:p>
            <a:endParaRPr lang="en-US" dirty="0"/>
          </a:p>
        </p:txBody>
      </p:sp>
    </p:spTree>
    <p:extLst>
      <p:ext uri="{BB962C8B-B14F-4D97-AF65-F5344CB8AC3E}">
        <p14:creationId xmlns:p14="http://schemas.microsoft.com/office/powerpoint/2010/main" val="1316554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1703</Words>
  <Application>Microsoft Office PowerPoint</Application>
  <PresentationFormat>Widescreen</PresentationFormat>
  <Paragraphs>137</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Work flow and customer’s journey presentation</vt:lpstr>
      <vt:lpstr>PowerPoint Presentation</vt:lpstr>
      <vt:lpstr>Stage (1) Recruiters :</vt:lpstr>
      <vt:lpstr>Stage (2) booking a placement test :</vt:lpstr>
      <vt:lpstr>Stage (3) Payment:</vt:lpstr>
      <vt:lpstr>Stage (4) The placement test :</vt:lpstr>
      <vt:lpstr>PowerPoint Presentation</vt:lpstr>
      <vt:lpstr>Stage (5) Level allocation:</vt:lpstr>
      <vt:lpstr>Stage (6) Hiring plan:</vt:lpstr>
      <vt:lpstr>Hiring plan example:</vt:lpstr>
      <vt:lpstr>Stage (7) course details and Payment:</vt:lpstr>
      <vt:lpstr>Stage (8) course enrollment and Training department:</vt:lpstr>
      <vt:lpstr>Stage (9) Post Training: Final evaluation </vt:lpstr>
      <vt:lpstr>Stage (10) Post Training: Level allocation</vt:lpstr>
      <vt:lpstr>Areas Requiring Analysis from the system : </vt:lpstr>
      <vt:lpstr>Areas Requiring Analysis from the system : </vt:lpstr>
      <vt:lpstr>Stages that would require follow up notifications from the system :</vt:lpstr>
      <vt:lpstr>PowerPoint Presentation</vt:lpstr>
      <vt:lpstr>Levels that we currently provide: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flow and customer’s journey presentation</dc:title>
  <dc:creator>HP</dc:creator>
  <cp:lastModifiedBy>lenovo</cp:lastModifiedBy>
  <cp:revision>7</cp:revision>
  <dcterms:created xsi:type="dcterms:W3CDTF">2025-12-27T15:34:04Z</dcterms:created>
  <dcterms:modified xsi:type="dcterms:W3CDTF">2025-12-28T12:41:07Z</dcterms:modified>
</cp:coreProperties>
</file>